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33f9058bae408a" /><Relationship Type="http://schemas.openxmlformats.org/officeDocument/2006/relationships/extended-properties" Target="/docProps/app.xml" Id="R7d8ecd0aecee4ae0" /><Relationship Type="http://schemas.openxmlformats.org/officeDocument/2006/relationships/officeDocument" Target="/ppt/presentation.xml" Id="R7195ad81a9464f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6b14df4a1948fb"/>
  </p:sldMasterIdLst>
  <p:notesMasterIdLst>
    <p:notesMasterId xmlns:r="http://schemas.openxmlformats.org/officeDocument/2006/relationships" r:id="R4946cb6a13e64140"/>
  </p:notesMasterIdLst>
  <p:sldIdLst>
    <p:sldId xmlns:r="http://schemas.openxmlformats.org/officeDocument/2006/relationships" id="256" r:id="R5ede7df9bc184685"/>
  </p:sldIdLst>
  <p:sldSz cx="17145000" cy="2286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47fc6a643243d4" /><Relationship Type="http://schemas.openxmlformats.org/officeDocument/2006/relationships/slideMaster" Target="/ppt/slideMasters/slideMaster1.xml" Id="Ra26b14df4a1948fb" /><Relationship Type="http://schemas.openxmlformats.org/officeDocument/2006/relationships/notesMaster" Target="/ppt/notesMasters/notesMaster1.xml" Id="R4946cb6a13e64140" /><Relationship Type="http://schemas.openxmlformats.org/officeDocument/2006/relationships/presProps" Target="/ppt/presProps.xml" Id="Rc9935016d47f488c" /><Relationship Type="http://schemas.openxmlformats.org/officeDocument/2006/relationships/tableStyles" Target="/ppt/tableStyles.xml" Id="R2bef8cbfabad4668" /><Relationship Type="http://schemas.openxmlformats.org/officeDocument/2006/relationships/slide" Target="/ppt/slides/slide1.xml" Id="R5ede7df9bc1846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a40aafd1d240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7f3fcb646349a4" /><Relationship Type="http://schemas.openxmlformats.org/officeDocument/2006/relationships/notesMaster" Target="/ppt/notesMasters/notesMaster1.xml" Id="R893d38fd95e24a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d99854cc514e5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a9842b010e4a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63342dac06472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f4224b54a642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ac0d4a81aa4f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200763ee2f41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B34E2A-0065-4EAF-88A0-FE4999992B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4500" y="8636000"/>
            <a:ext cx="13716000" cy="330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B0BE5F5-5589-48F3-A90E-F81DF4EE65E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571750" y="12573000"/>
            <a:ext cx="12001500" cy="2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7342A0A-F200-491A-8494-6359B888F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4500" y="9525000"/>
            <a:ext cx="13716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9264A8-A4D0-4F66-B6CA-BFCDECFA42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1778000"/>
            <a:ext cx="15216188" cy="27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4F8E094-E12C-4506-8F57-8F71B07EDF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6350000"/>
            <a:ext cx="15216188" cy="142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FEA5B8-0586-4D81-96BE-C974DBA729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1778000"/>
            <a:ext cx="15216188" cy="27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684B02-5FA1-41BB-8108-BBA3A184AD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6350000"/>
            <a:ext cx="7072313" cy="142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3A502E-A54F-41EF-8B33-0F639C9F05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08281" y="6350000"/>
            <a:ext cx="7072313" cy="142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EEE100-D30F-4C64-9733-A3896BA589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1778000"/>
            <a:ext cx="15216188" cy="27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E8A5DE-5B99-461D-94C5-DAA0F198C8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6350000"/>
            <a:ext cx="7072313" cy="142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2bce8b4da94f18" /><Relationship Type="http://schemas.openxmlformats.org/officeDocument/2006/relationships/slideLayout" Target="/ppt/slideLayouts/slideLayout1.xml" Id="Raa56012ad22947a0" /><Relationship Type="http://schemas.openxmlformats.org/officeDocument/2006/relationships/slideLayout" Target="/ppt/slideLayouts/slideLayout2.xml" Id="R7e34c365308d4b50" /><Relationship Type="http://schemas.openxmlformats.org/officeDocument/2006/relationships/slideLayout" Target="/ppt/slideLayouts/slideLayout3.xml" Id="Rbbaf55bc1e604656" /><Relationship Type="http://schemas.openxmlformats.org/officeDocument/2006/relationships/slideLayout" Target="/ppt/slideLayouts/slideLayout4.xml" Id="Rc8ad8ef0e4a9422a" /><Relationship Type="http://schemas.openxmlformats.org/officeDocument/2006/relationships/slideLayout" Target="/ppt/slideLayouts/slideLayout5.xml" Id="R6f1113519fdb4ddb" /><Relationship Type="http://schemas.openxmlformats.org/officeDocument/2006/relationships/slideLayout" Target="/ppt/slideLayouts/slideLayout6.xml" Id="R9cb9b7b9d59e48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56012ad22947a0"/>
    <p:sldLayoutId xmlns:r="http://schemas.openxmlformats.org/officeDocument/2006/relationships" id="2147483650" r:id="R7e34c365308d4b50"/>
    <p:sldLayoutId xmlns:r="http://schemas.openxmlformats.org/officeDocument/2006/relationships" id="2147483651" r:id="Rbbaf55bc1e604656"/>
    <p:sldLayoutId xmlns:r="http://schemas.openxmlformats.org/officeDocument/2006/relationships" id="2147483652" r:id="Rc8ad8ef0e4a9422a"/>
    <p:sldLayoutId xmlns:r="http://schemas.openxmlformats.org/officeDocument/2006/relationships" id="2147483653" r:id="R6f1113519fdb4ddb"/>
    <p:sldLayoutId xmlns:r="http://schemas.openxmlformats.org/officeDocument/2006/relationships" id="2147483654" r:id="R9cb9b7b9d59e48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8c6794368a4a1d" /><Relationship Type="http://schemas.openxmlformats.org/officeDocument/2006/relationships/notesSlide" Target="/ppt/notesSlides/notesSlide1.xml" Id="R431a2f2ab55f4e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A15A39B-DFFC-4342-AAAB-0742526E5DEF}"/>
              </a:ext>
            </a:extLst>
          </p:cNvPr>
          <p:cNvCxnSpPr>
            <a:stCxn xmlns:a="http://schemas.openxmlformats.org/drawingml/2006/main" id="54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8572500" y="213360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C73"/>
            </a:solidFill>
            <a:prstDash val="solid"/>
            <a:tailEnd type="triangle" w="med" len="med"/>
          </a:ln>
        </p:spPr>
      </p:cxnSp>
      <p:cxnSp>
        <p:nvCxn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CEF84E7-EA3B-4E3D-9DD3-08D7CBCD9F42}"/>
              </a:ext>
            </a:extLst>
          </p:cNvPr>
          <p:cNvCxnSpPr>
            <a:stCxn xmlns:a="http://schemas.openxmlformats.org/drawingml/2006/main" id="54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12192000" y="20478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34431"/>
            </a:solidFill>
            <a:prstDash val="solid"/>
            <a:tailEnd type="triangle" w="med" len="med"/>
          </a:ln>
        </p:spPr>
      </p:cxnSp>
      <p:cxnSp>
        <p:nvCxn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3E681C5-DDA3-4B9B-A95B-0AB2FDAF9B78}"/>
              </a:ext>
            </a:extLst>
          </p:cNvPr>
          <p:cNvCxnSpPr>
            <a:stCxn xmlns:a="http://schemas.openxmlformats.org/drawingml/2006/main" id="50" idx="2"/>
            <a:endCxn xmlns:a="http://schemas.openxmlformats.org/drawingml/2006/main" id="54" idx="0"/>
          </p:cNvCxnSpPr>
          <p:nvPr/>
        </p:nvCxnSpPr>
        <p:spPr>
          <a:xfrm xmlns:a="http://schemas.openxmlformats.org/drawingml/2006/main">
            <a:off x="8572500" y="1905000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C73"/>
            </a:solidFill>
            <a:prstDash val="solid"/>
            <a:tailEnd type="triangle" w="med" len="med"/>
          </a:ln>
        </p:spPr>
      </p:cxnSp>
      <p:cxnSp>
        <p:nvCxn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9F68A2-E397-4CCB-A045-D816E4D36DFA}"/>
              </a:ext>
            </a:extLst>
          </p:cNvPr>
          <p:cNvCxnSpPr>
            <a:stCxn xmlns:a="http://schemas.openxmlformats.org/drawingml/2006/main" id="46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8572500" y="17097375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C73"/>
            </a:solidFill>
            <a:prstDash val="solid"/>
            <a:tailEnd type="triangle" w="med" len="med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16E7F6F-5DFA-45EB-817F-C1946EB1F639}"/>
              </a:ext>
            </a:extLst>
          </p:cNvPr>
          <p:cNvCxnSpPr>
            <a:stCxn xmlns:a="http://schemas.openxmlformats.org/drawingml/2006/main" id="42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8572500" y="1533525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C73"/>
            </a:solidFill>
            <a:prstDash val="solid"/>
            <a:tailEnd type="triangle" w="med" len="med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C96F80-8A62-4FB0-9B82-74FD5088E78E}"/>
              </a:ext>
            </a:extLst>
          </p:cNvPr>
          <p:cNvCxnSpPr>
            <a:stCxn xmlns:a="http://schemas.openxmlformats.org/drawingml/2006/main" id="37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8572500" y="1333500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C73"/>
            </a:solidFill>
            <a:prstDash val="solid"/>
            <a:tailEnd type="triangle" w="med" len="me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0801B0-E550-4CE8-8197-8B3CECB438D0}"/>
              </a:ext>
            </a:extLst>
          </p:cNvPr>
          <p:cNvCxnSpPr>
            <a:stCxn xmlns:a="http://schemas.openxmlformats.org/drawingml/2006/main" id="23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>
            <a:off x="8572500" y="1133475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C73"/>
            </a:solidFill>
            <a:prstDash val="solid"/>
            <a:tailEnd type="triangle" w="med" len="med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C24BA5-AFBF-4D55-83AC-932679C9DF16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12192000" y="10477500"/>
            <a:ext cx="7620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34431"/>
            </a:solidFill>
            <a:prstDash val="solid"/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F62F8A-1B89-45DC-985D-8455060DAADC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8572500" y="904875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C73"/>
            </a:solidFill>
            <a:prstDash val="solid"/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4AE440-04FB-47A9-8DB2-D61A6461D027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8572500" y="7286625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C73"/>
            </a:solidFill>
            <a:prstDash val="solid"/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B4D96-BCF3-4E3A-AFE0-B46F71720C88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8572500" y="5095875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C73"/>
            </a:solidFill>
            <a:prstDash val="solid"/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134F6-DFBC-4AC4-B196-D456ADA1F5F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2192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34431"/>
            </a:solidFill>
            <a:prstDash val="solid"/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B3BB8-9A01-466F-BE4D-903D75602A9C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572500" y="2905125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C73"/>
            </a:solidFill>
            <a:prstDash val="solid"/>
            <a:tailEnd type="triangle" w="med" len="med"/>
          </a:ln>
        </p:spPr>
      </p:cxnSp>
      <p:sp>
        <p:nvSpPr>
          <p:cNvPr id="68" name="Title">
            <a:extLst xmlns:a="http://schemas.openxmlformats.org/drawingml/2006/main">
              <a:ext uri="{FF2B5EF4-FFF2-40B4-BE49-F238E27FC236}">
                <a16:creationId xmlns:a16="http://schemas.microsoft.com/office/drawing/2014/main" id="{73091EE6-D294-447E-BF1F-EBACD7FE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562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350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4350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4350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4350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4350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4350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4350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4350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4350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4350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83647"/>
                </a:solidFill>
                <a:latin typeface="Arial"/>
                <a:ea typeface="Arial"/>
                <a:cs typeface="Arial"/>
              </a:rPr>
              <a:t>How to Rent a Sailboat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0AA8D1B-D59F-4DDA-93CE-25E1B84E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95375"/>
            <a:ext cx="1562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Sailboat rental • qualification card, boat assignment and departure</a:t>
            </a:r>
          </a:p>
        </p:txBody>
      </p:sp>
      <p:sp>
        <p:nvSpPr>
          <p:cNvPr id="3" name="Find card">
            <a:extLst xmlns:a="http://schemas.openxmlformats.org/drawingml/2006/main">
              <a:ext uri="{FF2B5EF4-FFF2-40B4-BE49-F238E27FC236}">
                <a16:creationId xmlns:a16="http://schemas.microsoft.com/office/drawing/2014/main" id="{435B7E9F-6A25-4980-A65A-BB5D97A1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72390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DF6F5"/>
          </a:solidFill>
          <a:ln xmlns:a="http://schemas.openxmlformats.org/drawingml/2006/main" w="19050">
            <a:solidFill>
              <a:srgbClr val="176C73"/>
            </a:solidFill>
            <a:prstDash val="solid"/>
          </a:ln>
        </p:spPr>
      </p:sp>
      <p:sp>
        <p:nvSpPr>
          <p:cNvPr id="4" name="Find card title">
            <a:extLst xmlns:a="http://schemas.openxmlformats.org/drawingml/2006/main">
              <a:ext uri="{FF2B5EF4-FFF2-40B4-BE49-F238E27FC236}">
                <a16:creationId xmlns:a16="http://schemas.microsoft.com/office/drawing/2014/main" id="{D60E0200-7845-4B43-B52E-492D1E9B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52625"/>
            <a:ext cx="681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C73"/>
                </a:solidFill>
                <a:latin typeface="Arial"/>
                <a:ea typeface="Arial"/>
                <a:cs typeface="Arial"/>
              </a:rPr>
              <a:t>1  Locate the sailor’s card</a:t>
            </a:r>
          </a:p>
        </p:txBody>
      </p:sp>
      <p:sp>
        <p:nvSpPr>
          <p:cNvPr id="5" name="Find card details">
            <a:extLst xmlns:a="http://schemas.openxmlformats.org/drawingml/2006/main">
              <a:ext uri="{FF2B5EF4-FFF2-40B4-BE49-F238E27FC236}">
                <a16:creationId xmlns:a16="http://schemas.microsoft.com/office/drawing/2014/main" id="{D05A6771-3D82-4B8F-A37F-EAF1A53C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81250"/>
            <a:ext cx="6819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Ask for their last name. Find the card alphabetically.</a:t>
            </a:r>
          </a:p>
        </p:txBody>
      </p:sp>
      <p:sp>
        <p:nvSpPr>
          <p:cNvPr id="6" name="Card validity">
            <a:extLst xmlns:a="http://schemas.openxmlformats.org/drawingml/2006/main">
              <a:ext uri="{FF2B5EF4-FFF2-40B4-BE49-F238E27FC236}">
                <a16:creationId xmlns:a16="http://schemas.microsoft.com/office/drawing/2014/main" id="{C2AD533B-3E18-493A-9132-60AA253F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81375"/>
            <a:ext cx="7239000" cy="17145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5D9"/>
          </a:solidFill>
          <a:ln xmlns:a="http://schemas.openxmlformats.org/drawingml/2006/main" w="19050">
            <a:solidFill>
              <a:srgbClr val="A27812"/>
            </a:solidFill>
            <a:prstDash val="solid"/>
          </a:ln>
        </p:spPr>
      </p:sp>
      <p:sp>
        <p:nvSpPr>
          <p:cNvPr id="7" name="Card validity label">
            <a:extLst xmlns:a="http://schemas.openxmlformats.org/drawingml/2006/main">
              <a:ext uri="{FF2B5EF4-FFF2-40B4-BE49-F238E27FC236}">
                <a16:creationId xmlns:a16="http://schemas.microsoft.com/office/drawing/2014/main" id="{4AE20A3C-B177-4CC2-A5DD-949BCC34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95700"/>
            <a:ext cx="4191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647"/>
                </a:solidFill>
                <a:latin typeface="Arial"/>
                <a:ea typeface="Arial"/>
                <a:cs typeface="Arial"/>
              </a:rPr>
              <a:t>BLUE or YELLOW card</a:t>
            </a:r>
          </a:p>
          <a:p xmlns:a="http://schemas.openxmlformats.org/drawingml/2006/main">
            <a: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647"/>
                </a:solidFill>
                <a:latin typeface="Arial"/>
                <a:ea typeface="Arial"/>
                <a:cs typeface="Arial"/>
              </a:rPr>
              <a:t>dated within the past year?</a:t>
            </a:r>
          </a:p>
        </p:txBody>
      </p:sp>
      <p:sp>
        <p:nvSpPr>
          <p:cNvPr id="9" name="Staff review">
            <a:extLst xmlns:a="http://schemas.openxmlformats.org/drawingml/2006/main">
              <a:ext uri="{FF2B5EF4-FFF2-40B4-BE49-F238E27FC236}">
                <a16:creationId xmlns:a16="http://schemas.microsoft.com/office/drawing/2014/main" id="{F95477F9-4D20-4988-B3F3-96E56A01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381375"/>
            <a:ext cx="3714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9050">
            <a:solidFill>
              <a:srgbClr val="A34431"/>
            </a:solidFill>
            <a:prstDash val="solid"/>
          </a:ln>
        </p:spPr>
      </p:sp>
      <p:sp>
        <p:nvSpPr>
          <p:cNvPr id="10" name="Staff review title">
            <a:extLst xmlns:a="http://schemas.openxmlformats.org/drawingml/2006/main">
              <a:ext uri="{FF2B5EF4-FFF2-40B4-BE49-F238E27FC236}">
                <a16:creationId xmlns:a16="http://schemas.microsoft.com/office/drawing/2014/main" id="{3BA7AB1D-E0CE-42DC-BA6E-76E2A7F1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35242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34431"/>
                </a:solidFill>
                <a:latin typeface="Arial"/>
                <a:ea typeface="Arial"/>
                <a:cs typeface="Arial"/>
              </a:rPr>
              <a:t>CHECK WITH STAFF</a:t>
            </a:r>
          </a:p>
        </p:txBody>
      </p:sp>
      <p:sp>
        <p:nvSpPr>
          <p:cNvPr id="11" name="Staff review details">
            <a:extLst xmlns:a="http://schemas.openxmlformats.org/drawingml/2006/main">
              <a:ext uri="{FF2B5EF4-FFF2-40B4-BE49-F238E27FC236}">
                <a16:creationId xmlns:a16="http://schemas.microsoft.com/office/drawing/2014/main" id="{066D1699-F81A-4BA5-B361-D7F83E00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3952875"/>
            <a:ext cx="3295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Card missing, out of date or uncertain?</a:t>
            </a:r>
          </a:p>
          <a:p xmlns:a="http://schemas.openxmlformats.org/drawingml/2006/main"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Resolve with staff, then recheck.</a:t>
            </a:r>
          </a:p>
        </p:txBody>
      </p:sp>
      <p:sp>
        <p:nvSpPr>
          <p:cNvPr id="13" name="No validity">
            <a:extLst xmlns:a="http://schemas.openxmlformats.org/drawingml/2006/main">
              <a:ext uri="{FF2B5EF4-FFF2-40B4-BE49-F238E27FC236}">
                <a16:creationId xmlns:a16="http://schemas.microsoft.com/office/drawing/2014/main" id="{F75E7B62-DE4F-4B92-9B39-786E624C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790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34431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4" name="Record card">
            <a:extLst xmlns:a="http://schemas.openxmlformats.org/drawingml/2006/main">
              <a:ext uri="{FF2B5EF4-FFF2-40B4-BE49-F238E27FC236}">
                <a16:creationId xmlns:a16="http://schemas.microsoft.com/office/drawing/2014/main" id="{4B0CD606-2604-4858-BD0A-E4CD67B9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67375"/>
            <a:ext cx="723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DF6F5"/>
          </a:solidFill>
          <a:ln xmlns:a="http://schemas.openxmlformats.org/drawingml/2006/main" w="19050">
            <a:solidFill>
              <a:srgbClr val="176C73"/>
            </a:solidFill>
            <a:prstDash val="solid"/>
          </a:ln>
        </p:spPr>
      </p:sp>
      <p:sp>
        <p:nvSpPr>
          <p:cNvPr id="15" name="Record card title">
            <a:extLst xmlns:a="http://schemas.openxmlformats.org/drawingml/2006/main">
              <a:ext uri="{FF2B5EF4-FFF2-40B4-BE49-F238E27FC236}">
                <a16:creationId xmlns:a16="http://schemas.microsoft.com/office/drawing/2014/main" id="{996A8EEE-0A34-45BD-AE21-1E17E944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810250"/>
            <a:ext cx="681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C73"/>
                </a:solidFill>
                <a:latin typeface="Arial"/>
                <a:ea typeface="Arial"/>
                <a:cs typeface="Arial"/>
              </a:rPr>
              <a:t>2  Record on the card before sailing</a:t>
            </a:r>
          </a:p>
        </p:txBody>
      </p:sp>
      <p:sp>
        <p:nvSpPr>
          <p:cNvPr id="16" name="Record card details">
            <a:extLst xmlns:a="http://schemas.openxmlformats.org/drawingml/2006/main">
              <a:ext uri="{FF2B5EF4-FFF2-40B4-BE49-F238E27FC236}">
                <a16:creationId xmlns:a16="http://schemas.microsoft.com/office/drawing/2014/main" id="{DA0C39FD-61AB-4D62-81C7-9B155D60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238875"/>
            <a:ext cx="6819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Boat type (e.g. BJK, C22, Monk, Lightning)</a:t>
            </a:r>
          </a:p>
          <a:p xmlns:a="http://schemas.openxmlformats.org/drawingml/2006/main"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Date including year (mm/dd/yy)</a:t>
            </a:r>
          </a:p>
          <a:p xmlns:a="http://schemas.openxmlformats.org/drawingml/2006/main"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Wind direction and knot range</a:t>
            </a:r>
          </a:p>
        </p:txBody>
      </p:sp>
      <p:sp>
        <p:nvSpPr>
          <p:cNvPr id="18" name="Yes 550">
            <a:extLst xmlns:a="http://schemas.openxmlformats.org/drawingml/2006/main">
              <a:ext uri="{FF2B5EF4-FFF2-40B4-BE49-F238E27FC236}">
                <a16:creationId xmlns:a16="http://schemas.microsoft.com/office/drawing/2014/main" id="{A79C0690-D36E-485D-A969-6489451C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387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C73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9" name="Assign boat">
            <a:extLst xmlns:a="http://schemas.openxmlformats.org/drawingml/2006/main">
              <a:ext uri="{FF2B5EF4-FFF2-40B4-BE49-F238E27FC236}">
                <a16:creationId xmlns:a16="http://schemas.microsoft.com/office/drawing/2014/main" id="{88F5424A-92C1-4260-A2E2-8175721D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858125"/>
            <a:ext cx="7239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DF6F5"/>
          </a:solidFill>
          <a:ln xmlns:a="http://schemas.openxmlformats.org/drawingml/2006/main" w="19050">
            <a:solidFill>
              <a:srgbClr val="176C73"/>
            </a:solidFill>
            <a:prstDash val="solid"/>
          </a:ln>
        </p:spPr>
      </p:sp>
      <p:sp>
        <p:nvSpPr>
          <p:cNvPr id="20" name="Assign boat title">
            <a:extLst xmlns:a="http://schemas.openxmlformats.org/drawingml/2006/main">
              <a:ext uri="{FF2B5EF4-FFF2-40B4-BE49-F238E27FC236}">
                <a16:creationId xmlns:a16="http://schemas.microsoft.com/office/drawing/2014/main" id="{8E66A382-449A-4A0C-B927-F7F20187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8001000"/>
            <a:ext cx="681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C73"/>
                </a:solidFill>
                <a:latin typeface="Arial"/>
                <a:ea typeface="Arial"/>
                <a:cs typeface="Arial"/>
              </a:rPr>
              <a:t>3  Select an available boat</a:t>
            </a:r>
          </a:p>
        </p:txBody>
      </p:sp>
      <p:sp>
        <p:nvSpPr>
          <p:cNvPr id="21" name="Assign boat details">
            <a:extLst xmlns:a="http://schemas.openxmlformats.org/drawingml/2006/main">
              <a:ext uri="{FF2B5EF4-FFF2-40B4-BE49-F238E27FC236}">
                <a16:creationId xmlns:a16="http://schemas.microsoft.com/office/drawing/2014/main" id="{E8B1E115-66D8-446F-B7B5-D2D58347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8429625"/>
            <a:ext cx="6819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Classes take priority. Check lesson schedules and time constraints.</a:t>
            </a:r>
          </a:p>
        </p:txBody>
      </p:sp>
      <p:sp>
        <p:nvSpPr>
          <p:cNvPr id="23" name="Boat eligibility">
            <a:extLst xmlns:a="http://schemas.openxmlformats.org/drawingml/2006/main">
              <a:ext uri="{FF2B5EF4-FFF2-40B4-BE49-F238E27FC236}">
                <a16:creationId xmlns:a16="http://schemas.microsoft.com/office/drawing/2014/main" id="{689A0C33-3B31-4907-B1F4-8903E006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620250"/>
            <a:ext cx="7239000" cy="17145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5D9"/>
          </a:solidFill>
          <a:ln xmlns:a="http://schemas.openxmlformats.org/drawingml/2006/main" w="19050">
            <a:solidFill>
              <a:srgbClr val="A27812"/>
            </a:solidFill>
            <a:prstDash val="solid"/>
          </a:ln>
        </p:spPr>
      </p:sp>
      <p:sp>
        <p:nvSpPr>
          <p:cNvPr id="24" name="Boat eligibility label">
            <a:extLst xmlns:a="http://schemas.openxmlformats.org/drawingml/2006/main">
              <a:ext uri="{FF2B5EF4-FFF2-40B4-BE49-F238E27FC236}">
                <a16:creationId xmlns:a16="http://schemas.microsoft.com/office/drawing/2014/main" id="{164FA3EE-A5F1-47A2-B9C0-B19882EA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934575"/>
            <a:ext cx="4191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647"/>
                </a:solidFill>
                <a:latin typeface="Arial"/>
                <a:ea typeface="Arial"/>
                <a:cs typeface="Arial"/>
              </a:rPr>
              <a:t>Correct card for boat,</a:t>
            </a:r>
          </a:p>
          <a:p xmlns:a="http://schemas.openxmlformats.org/drawingml/2006/main">
            <a: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647"/>
                </a:solidFill>
                <a:latin typeface="Arial"/>
                <a:ea typeface="Arial"/>
                <a:cs typeface="Arial"/>
              </a:rPr>
              <a:t>no lesson conflict and</a:t>
            </a:r>
          </a:p>
          <a:p xmlns:a="http://schemas.openxmlformats.org/drawingml/2006/main">
            <a: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647"/>
                </a:solidFill>
                <a:latin typeface="Arial"/>
                <a:ea typeface="Arial"/>
                <a:cs typeface="Arial"/>
              </a:rPr>
              <a:t>crew aboard for C22?</a:t>
            </a:r>
          </a:p>
        </p:txBody>
      </p:sp>
      <p:sp>
        <p:nvSpPr>
          <p:cNvPr id="26" name="Blue card rules">
            <a:extLst xmlns:a="http://schemas.openxmlformats.org/drawingml/2006/main">
              <a:ext uri="{FF2B5EF4-FFF2-40B4-BE49-F238E27FC236}">
                <a16:creationId xmlns:a16="http://schemas.microsoft.com/office/drawing/2014/main" id="{1DF71EB6-8B5C-4222-BB98-B6A990B4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10500"/>
            <a:ext cx="3714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19050">
            <a:solidFill>
              <a:srgbClr val="2463A0"/>
            </a:solidFill>
            <a:prstDash val="solid"/>
          </a:ln>
        </p:spPr>
      </p:sp>
      <p:sp>
        <p:nvSpPr>
          <p:cNvPr id="27" name="Blue card rules title">
            <a:extLst xmlns:a="http://schemas.openxmlformats.org/drawingml/2006/main">
              <a:ext uri="{FF2B5EF4-FFF2-40B4-BE49-F238E27FC236}">
                <a16:creationId xmlns:a16="http://schemas.microsoft.com/office/drawing/2014/main" id="{C8A84907-7165-40D7-9674-234CA568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53375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463A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2463A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2463A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2463A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2463A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2463A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2463A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2463A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2463A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2463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463A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63A0"/>
                </a:solidFill>
                <a:latin typeface="Arial"/>
                <a:ea typeface="Arial"/>
                <a:cs typeface="Arial"/>
              </a:rPr>
              <a:t>BLUE CARD</a:t>
            </a:r>
          </a:p>
        </p:txBody>
      </p:sp>
      <p:sp>
        <p:nvSpPr>
          <p:cNvPr id="28" name="Blue card rules details">
            <a:extLst xmlns:a="http://schemas.openxmlformats.org/drawingml/2006/main">
              <a:ext uri="{FF2B5EF4-FFF2-40B4-BE49-F238E27FC236}">
                <a16:creationId xmlns:a16="http://schemas.microsoft.com/office/drawing/2014/main" id="{F9A95402-C4E5-48CB-9903-17D7822C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0"/>
            <a:ext cx="3295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BJKs and centerboard boats</a:t>
            </a:r>
          </a:p>
          <a:p xmlns:a="http://schemas.openxmlformats.org/drawingml/2006/main"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All boats except C22s</a:t>
            </a:r>
          </a:p>
          <a:p xmlns:a="http://schemas.openxmlformats.org/drawingml/2006/main"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May singlehand</a:t>
            </a:r>
          </a:p>
        </p:txBody>
      </p:sp>
      <p:sp>
        <p:nvSpPr>
          <p:cNvPr id="29" name="Yellow card rules">
            <a:extLst xmlns:a="http://schemas.openxmlformats.org/drawingml/2006/main">
              <a:ext uri="{FF2B5EF4-FFF2-40B4-BE49-F238E27FC236}">
                <a16:creationId xmlns:a16="http://schemas.microsoft.com/office/drawing/2014/main" id="{1E78FAA4-57C2-4109-B800-2A6A2773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906000"/>
            <a:ext cx="3714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19050">
            <a:solidFill>
              <a:srgbClr val="946A06"/>
            </a:solidFill>
            <a:prstDash val="solid"/>
          </a:ln>
        </p:spPr>
      </p:sp>
      <p:sp>
        <p:nvSpPr>
          <p:cNvPr id="30" name="Yellow card rules title">
            <a:extLst xmlns:a="http://schemas.openxmlformats.org/drawingml/2006/main">
              <a:ext uri="{FF2B5EF4-FFF2-40B4-BE49-F238E27FC236}">
                <a16:creationId xmlns:a16="http://schemas.microsoft.com/office/drawing/2014/main" id="{390E6E3A-C6FD-4529-A5C5-9E3D573E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48875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946A06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946A06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946A06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946A06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946A06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946A06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946A06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946A06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946A06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946A0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946A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46A06"/>
                </a:solidFill>
                <a:latin typeface="Arial"/>
                <a:ea typeface="Arial"/>
                <a:cs typeface="Arial"/>
              </a:rPr>
              <a:t>YELLOW CARD</a:t>
            </a:r>
          </a:p>
        </p:txBody>
      </p:sp>
      <p:sp>
        <p:nvSpPr>
          <p:cNvPr id="31" name="Yellow card rules details">
            <a:extLst xmlns:a="http://schemas.openxmlformats.org/drawingml/2006/main">
              <a:ext uri="{FF2B5EF4-FFF2-40B4-BE49-F238E27FC236}">
                <a16:creationId xmlns:a16="http://schemas.microsoft.com/office/drawing/2014/main" id="{D919880E-6C9B-41AB-9E88-3919DA02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0"/>
            <a:ext cx="3295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C22 and the rest of the fleet</a:t>
            </a:r>
          </a:p>
          <a:p xmlns:a="http://schemas.openxmlformats.org/drawingml/2006/main"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C22 requires crew</a:t>
            </a:r>
          </a:p>
          <a:p xmlns:a="http://schemas.openxmlformats.org/drawingml/2006/main"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No singlehanding on C22</a:t>
            </a:r>
          </a:p>
        </p:txBody>
      </p:sp>
      <p:sp>
        <p:nvSpPr>
          <p:cNvPr id="32" name="Reselect boat">
            <a:extLst xmlns:a="http://schemas.openxmlformats.org/drawingml/2006/main">
              <a:ext uri="{FF2B5EF4-FFF2-40B4-BE49-F238E27FC236}">
                <a16:creationId xmlns:a16="http://schemas.microsoft.com/office/drawing/2014/main" id="{B44AA44E-8F39-425A-96E6-294E5863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9620250"/>
            <a:ext cx="3714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9050">
            <a:solidFill>
              <a:srgbClr val="A34431"/>
            </a:solidFill>
            <a:prstDash val="solid"/>
          </a:ln>
        </p:spPr>
      </p:sp>
      <p:sp>
        <p:nvSpPr>
          <p:cNvPr id="33" name="Reselect boat title">
            <a:extLst xmlns:a="http://schemas.openxmlformats.org/drawingml/2006/main">
              <a:ext uri="{FF2B5EF4-FFF2-40B4-BE49-F238E27FC236}">
                <a16:creationId xmlns:a16="http://schemas.microsoft.com/office/drawing/2014/main" id="{328E035D-5AF6-49C3-89A5-ED444359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9763125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34431"/>
                </a:solidFill>
                <a:latin typeface="Arial"/>
                <a:ea typeface="Arial"/>
                <a:cs typeface="Arial"/>
              </a:rPr>
              <a:t>RECHECK BOAT CHOICE</a:t>
            </a:r>
          </a:p>
        </p:txBody>
      </p:sp>
      <p:sp>
        <p:nvSpPr>
          <p:cNvPr id="34" name="Reselect boat details">
            <a:extLst xmlns:a="http://schemas.openxmlformats.org/drawingml/2006/main">
              <a:ext uri="{FF2B5EF4-FFF2-40B4-BE49-F238E27FC236}">
                <a16:creationId xmlns:a16="http://schemas.microsoft.com/office/drawing/2014/main" id="{5B753540-EF01-4E5F-8FB7-50050A6B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10191750"/>
            <a:ext cx="3295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Choose another boat or time, or arrange C22 crew.</a:t>
            </a:r>
          </a:p>
          <a:p xmlns:a="http://schemas.openxmlformats.org/drawingml/2006/main"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Then repeat the boat check.</a:t>
            </a:r>
          </a:p>
        </p:txBody>
      </p:sp>
      <p:sp>
        <p:nvSpPr>
          <p:cNvPr id="36" name="No eligibility">
            <a:extLst xmlns:a="http://schemas.openxmlformats.org/drawingml/2006/main">
              <a:ext uri="{FF2B5EF4-FFF2-40B4-BE49-F238E27FC236}">
                <a16:creationId xmlns:a16="http://schemas.microsoft.com/office/drawing/2014/main" id="{2A398727-AF79-4C6B-A0B8-55E6712B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1009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34431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37" name="Boat briefing">
            <a:extLst xmlns:a="http://schemas.openxmlformats.org/drawingml/2006/main">
              <a:ext uri="{FF2B5EF4-FFF2-40B4-BE49-F238E27FC236}">
                <a16:creationId xmlns:a16="http://schemas.microsoft.com/office/drawing/2014/main" id="{1DAD264F-2635-43FF-810B-2C21B6C7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1906250"/>
            <a:ext cx="723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6F5"/>
          </a:solidFill>
          <a:ln xmlns:a="http://schemas.openxmlformats.org/drawingml/2006/main" w="19050">
            <a:solidFill>
              <a:srgbClr val="176C73"/>
            </a:solidFill>
            <a:prstDash val="solid"/>
          </a:ln>
        </p:spPr>
      </p:sp>
      <p:sp>
        <p:nvSpPr>
          <p:cNvPr id="38" name="Boat briefing title">
            <a:extLst xmlns:a="http://schemas.openxmlformats.org/drawingml/2006/main">
              <a:ext uri="{FF2B5EF4-FFF2-40B4-BE49-F238E27FC236}">
                <a16:creationId xmlns:a16="http://schemas.microsoft.com/office/drawing/2014/main" id="{20C971C6-282C-4C43-8311-9E6FAFF2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2049125"/>
            <a:ext cx="681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C73"/>
                </a:solidFill>
                <a:latin typeface="Arial"/>
                <a:ea typeface="Arial"/>
                <a:cs typeface="Arial"/>
              </a:rPr>
              <a:t>Confirm readiness for this boat</a:t>
            </a:r>
          </a:p>
        </p:txBody>
      </p:sp>
      <p:sp>
        <p:nvSpPr>
          <p:cNvPr id="39" name="Boat briefing details">
            <a:extLst xmlns:a="http://schemas.openxmlformats.org/drawingml/2006/main">
              <a:ext uri="{FF2B5EF4-FFF2-40B4-BE49-F238E27FC236}">
                <a16:creationId xmlns:a16="http://schemas.microsoft.com/office/drawing/2014/main" id="{4ABFCF59-B26B-401D-B116-E1F87267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2477750"/>
            <a:ext cx="681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For a boat new to the sailor, explain differences and handling.</a:t>
            </a:r>
          </a:p>
          <a:p xmlns:a="http://schemas.openxmlformats.org/drawingml/2006/main"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Offer tips and explain the rig as needed.</a:t>
            </a:r>
          </a:p>
        </p:txBody>
      </p:sp>
      <p:sp>
        <p:nvSpPr>
          <p:cNvPr id="41" name="Yes 1205">
            <a:extLst xmlns:a="http://schemas.openxmlformats.org/drawingml/2006/main">
              <a:ext uri="{FF2B5EF4-FFF2-40B4-BE49-F238E27FC236}">
                <a16:creationId xmlns:a16="http://schemas.microsoft.com/office/drawing/2014/main" id="{B9A037D8-EC87-489A-9C99-48D65843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477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C73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42" name="Livery log">
            <a:extLst xmlns:a="http://schemas.openxmlformats.org/drawingml/2006/main">
              <a:ext uri="{FF2B5EF4-FFF2-40B4-BE49-F238E27FC236}">
                <a16:creationId xmlns:a16="http://schemas.microsoft.com/office/drawing/2014/main" id="{34C930EC-28DB-44A2-949A-53A23A2C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906500"/>
            <a:ext cx="723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6F5"/>
          </a:solidFill>
          <a:ln xmlns:a="http://schemas.openxmlformats.org/drawingml/2006/main" w="19050">
            <a:solidFill>
              <a:srgbClr val="176C73"/>
            </a:solidFill>
            <a:prstDash val="solid"/>
          </a:ln>
        </p:spPr>
      </p:sp>
      <p:sp>
        <p:nvSpPr>
          <p:cNvPr id="43" name="Livery log title">
            <a:extLst xmlns:a="http://schemas.openxmlformats.org/drawingml/2006/main">
              <a:ext uri="{FF2B5EF4-FFF2-40B4-BE49-F238E27FC236}">
                <a16:creationId xmlns:a16="http://schemas.microsoft.com/office/drawing/2014/main" id="{7C97EA08-BE1D-407A-9B99-2F51C170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4049375"/>
            <a:ext cx="681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C73"/>
                </a:solidFill>
                <a:latin typeface="Arial"/>
                <a:ea typeface="Arial"/>
                <a:cs typeface="Arial"/>
              </a:rPr>
              <a:t>4  Complete the livery log</a:t>
            </a:r>
          </a:p>
        </p:txBody>
      </p:sp>
      <p:sp>
        <p:nvSpPr>
          <p:cNvPr id="44" name="Livery log details">
            <a:extLst xmlns:a="http://schemas.openxmlformats.org/drawingml/2006/main">
              <a:ext uri="{FF2B5EF4-FFF2-40B4-BE49-F238E27FC236}">
                <a16:creationId xmlns:a16="http://schemas.microsoft.com/office/drawing/2014/main" id="{7C655A05-3F17-488C-B8C1-20447DA4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4478000"/>
            <a:ext cx="681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Have the sailor fill it out in full, including rate and time out.</a:t>
            </a:r>
          </a:p>
          <a:p xmlns:a="http://schemas.openxmlformats.org/drawingml/2006/main"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Rigging and de-rigging time count toward rental time.</a:t>
            </a:r>
          </a:p>
        </p:txBody>
      </p:sp>
      <p:sp>
        <p:nvSpPr>
          <p:cNvPr id="46" name="Into wind">
            <a:extLst xmlns:a="http://schemas.openxmlformats.org/drawingml/2006/main">
              <a:ext uri="{FF2B5EF4-FFF2-40B4-BE49-F238E27FC236}">
                <a16:creationId xmlns:a16="http://schemas.microsoft.com/office/drawing/2014/main" id="{55CA8299-B5FB-4BF6-8096-45452121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906750"/>
            <a:ext cx="7239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DF6F5"/>
          </a:solidFill>
          <a:ln xmlns:a="http://schemas.openxmlformats.org/drawingml/2006/main" w="19050">
            <a:solidFill>
              <a:srgbClr val="176C73"/>
            </a:solidFill>
            <a:prstDash val="solid"/>
          </a:ln>
        </p:spPr>
      </p:sp>
      <p:sp>
        <p:nvSpPr>
          <p:cNvPr id="47" name="Into wind title">
            <a:extLst xmlns:a="http://schemas.openxmlformats.org/drawingml/2006/main">
              <a:ext uri="{FF2B5EF4-FFF2-40B4-BE49-F238E27FC236}">
                <a16:creationId xmlns:a16="http://schemas.microsoft.com/office/drawing/2014/main" id="{2F732DEA-8BC8-4F2D-8B18-43753403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049625"/>
            <a:ext cx="681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C73"/>
                </a:solidFill>
                <a:latin typeface="Arial"/>
                <a:ea typeface="Arial"/>
                <a:cs typeface="Arial"/>
              </a:rPr>
              <a:t>5  Point the boat into the wind</a:t>
            </a:r>
          </a:p>
        </p:txBody>
      </p:sp>
      <p:sp>
        <p:nvSpPr>
          <p:cNvPr id="48" name="Into wind details">
            <a:extLst xmlns:a="http://schemas.openxmlformats.org/drawingml/2006/main">
              <a:ext uri="{FF2B5EF4-FFF2-40B4-BE49-F238E27FC236}">
                <a16:creationId xmlns:a16="http://schemas.microsoft.com/office/drawing/2014/main" id="{D6E18F50-8E75-41A8-953B-1D7DC3F9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478250"/>
            <a:ext cx="6819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Do this before rigging. Help turn the boat, especially a larger one.</a:t>
            </a:r>
          </a:p>
        </p:txBody>
      </p:sp>
      <p:sp>
        <p:nvSpPr>
          <p:cNvPr id="50" name="Teach rigging">
            <a:extLst xmlns:a="http://schemas.openxmlformats.org/drawingml/2006/main">
              <a:ext uri="{FF2B5EF4-FFF2-40B4-BE49-F238E27FC236}">
                <a16:creationId xmlns:a16="http://schemas.microsoft.com/office/drawing/2014/main" id="{F2930FA0-3CC1-4BD4-A9B5-842084F5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668875"/>
            <a:ext cx="7239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DF6F5"/>
          </a:solidFill>
          <a:ln xmlns:a="http://schemas.openxmlformats.org/drawingml/2006/main" w="19050">
            <a:solidFill>
              <a:srgbClr val="176C73"/>
            </a:solidFill>
            <a:prstDash val="solid"/>
          </a:ln>
        </p:spPr>
      </p:sp>
      <p:sp>
        <p:nvSpPr>
          <p:cNvPr id="51" name="Teach rigging title">
            <a:extLst xmlns:a="http://schemas.openxmlformats.org/drawingml/2006/main">
              <a:ext uri="{FF2B5EF4-FFF2-40B4-BE49-F238E27FC236}">
                <a16:creationId xmlns:a16="http://schemas.microsoft.com/office/drawing/2014/main" id="{CD9BF2BE-28C7-4438-A3FC-C6EE82EC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811750"/>
            <a:ext cx="681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C73"/>
                </a:solidFill>
                <a:latin typeface="Arial"/>
                <a:ea typeface="Arial"/>
                <a:cs typeface="Arial"/>
              </a:rPr>
              <a:t>Guide and assist as needed</a:t>
            </a:r>
          </a:p>
        </p:txBody>
      </p:sp>
      <p:sp>
        <p:nvSpPr>
          <p:cNvPr id="52" name="Teach rigging details">
            <a:extLst xmlns:a="http://schemas.openxmlformats.org/drawingml/2006/main">
              <a:ext uri="{FF2B5EF4-FFF2-40B4-BE49-F238E27FC236}">
                <a16:creationId xmlns:a16="http://schemas.microsoft.com/office/drawing/2014/main" id="{D0FFCFD8-5670-4A58-9A3E-7BEFA034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240375"/>
            <a:ext cx="68199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Let the sailor do the work. Teach rigging and reefing.</a:t>
            </a:r>
          </a:p>
          <a:p xmlns:a="http://schemas.openxmlformats.org/drawingml/2006/main"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Explain why you do each step. Reinforce CWB procedures.</a:t>
            </a:r>
          </a:p>
        </p:txBody>
      </p:sp>
      <p:sp>
        <p:nvSpPr>
          <p:cNvPr id="54" name="Final rig check">
            <a:extLst xmlns:a="http://schemas.openxmlformats.org/drawingml/2006/main">
              <a:ext uri="{FF2B5EF4-FFF2-40B4-BE49-F238E27FC236}">
                <a16:creationId xmlns:a16="http://schemas.microsoft.com/office/drawing/2014/main" id="{9CBC0BD0-FD7F-434A-B586-3FA720B6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621500"/>
            <a:ext cx="7239000" cy="17145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5D9"/>
          </a:solidFill>
          <a:ln xmlns:a="http://schemas.openxmlformats.org/drawingml/2006/main" w="19050">
            <a:solidFill>
              <a:srgbClr val="A27812"/>
            </a:solidFill>
            <a:prstDash val="solid"/>
          </a:ln>
        </p:spPr>
      </p:sp>
      <p:sp>
        <p:nvSpPr>
          <p:cNvPr id="55" name="Final rig check label">
            <a:extLst xmlns:a="http://schemas.openxmlformats.org/drawingml/2006/main">
              <a:ext uri="{FF2B5EF4-FFF2-40B4-BE49-F238E27FC236}">
                <a16:creationId xmlns:a16="http://schemas.microsoft.com/office/drawing/2014/main" id="{A2379361-BF40-4D53-A5DB-91B6433C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935825"/>
            <a:ext cx="4191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647"/>
                </a:solidFill>
                <a:latin typeface="Arial"/>
                <a:ea typeface="Arial"/>
                <a:cs typeface="Arial"/>
              </a:rPr>
              <a:t>6  Final check complete?</a:t>
            </a:r>
          </a:p>
          <a:p xmlns:a="http://schemas.openxmlformats.org/drawingml/2006/main">
            <a: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647"/>
                </a:solidFill>
                <a:latin typeface="Arial"/>
                <a:ea typeface="Arial"/>
                <a:cs typeface="Arial"/>
              </a:rPr>
              <a:t>Rig set correctly and</a:t>
            </a:r>
          </a:p>
          <a:p xmlns:a="http://schemas.openxmlformats.org/drawingml/2006/main">
            <a: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647"/>
                </a:solidFill>
                <a:latin typeface="Arial"/>
                <a:ea typeface="Arial"/>
                <a:cs typeface="Arial"/>
              </a:rPr>
              <a:t>nothing likely to foul?</a:t>
            </a:r>
          </a:p>
        </p:txBody>
      </p:sp>
      <p:sp>
        <p:nvSpPr>
          <p:cNvPr id="57" name="Correct and recheck">
            <a:extLst xmlns:a="http://schemas.openxmlformats.org/drawingml/2006/main">
              <a:ext uri="{FF2B5EF4-FFF2-40B4-BE49-F238E27FC236}">
                <a16:creationId xmlns:a16="http://schemas.microsoft.com/office/drawing/2014/main" id="{C5E8731A-3F9B-4707-83F1-FA0EEEFF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19621500"/>
            <a:ext cx="3714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9050">
            <a:solidFill>
              <a:srgbClr val="A34431"/>
            </a:solidFill>
            <a:prstDash val="solid"/>
          </a:ln>
        </p:spPr>
      </p:sp>
      <p:sp>
        <p:nvSpPr>
          <p:cNvPr id="58" name="Correct and recheck title">
            <a:extLst xmlns:a="http://schemas.openxmlformats.org/drawingml/2006/main">
              <a:ext uri="{FF2B5EF4-FFF2-40B4-BE49-F238E27FC236}">
                <a16:creationId xmlns:a16="http://schemas.microsoft.com/office/drawing/2014/main" id="{9D363BED-E294-41D4-AA36-C13B445C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19764375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34431"/>
                </a:solidFill>
                <a:latin typeface="Arial"/>
                <a:ea typeface="Arial"/>
                <a:cs typeface="Arial"/>
              </a:rPr>
              <a:t>CORRECT AND RECHECK</a:t>
            </a:r>
          </a:p>
        </p:txBody>
      </p:sp>
      <p:sp>
        <p:nvSpPr>
          <p:cNvPr id="59" name="Correct and recheck details">
            <a:extLst xmlns:a="http://schemas.openxmlformats.org/drawingml/2006/main">
              <a:ext uri="{FF2B5EF4-FFF2-40B4-BE49-F238E27FC236}">
                <a16:creationId xmlns:a16="http://schemas.microsoft.com/office/drawing/2014/main" id="{3FF1DA6A-4D78-4B84-A8BF-2CFC8352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20193000"/>
            <a:ext cx="3295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Help resolve rig issues, then repeat the final check before departure.</a:t>
            </a:r>
          </a:p>
        </p:txBody>
      </p:sp>
      <p:sp>
        <p:nvSpPr>
          <p:cNvPr id="61" name="No rig">
            <a:extLst xmlns:a="http://schemas.openxmlformats.org/drawingml/2006/main">
              <a:ext uri="{FF2B5EF4-FFF2-40B4-BE49-F238E27FC236}">
                <a16:creationId xmlns:a16="http://schemas.microsoft.com/office/drawing/2014/main" id="{178D5FA5-B1E9-4E65-9D43-D1124B10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0097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34431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62" name="Departure">
            <a:extLst xmlns:a="http://schemas.openxmlformats.org/drawingml/2006/main">
              <a:ext uri="{FF2B5EF4-FFF2-40B4-BE49-F238E27FC236}">
                <a16:creationId xmlns:a16="http://schemas.microsoft.com/office/drawing/2014/main" id="{3DA803FC-E16E-49E8-A54D-CEF013F0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812250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6C7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3" name="Departure title">
            <a:extLst xmlns:a="http://schemas.openxmlformats.org/drawingml/2006/main">
              <a:ext uri="{FF2B5EF4-FFF2-40B4-BE49-F238E27FC236}">
                <a16:creationId xmlns:a16="http://schemas.microsoft.com/office/drawing/2014/main" id="{867C22E0-502A-4ACE-B7B2-8DD6551D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955125"/>
            <a:ext cx="681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READY TO DEPART</a:t>
            </a:r>
          </a:p>
        </p:txBody>
      </p:sp>
      <p:sp>
        <p:nvSpPr>
          <p:cNvPr id="64" name="Departure details">
            <a:extLst xmlns:a="http://schemas.openxmlformats.org/drawingml/2006/main">
              <a:ext uri="{FF2B5EF4-FFF2-40B4-BE49-F238E27FC236}">
                <a16:creationId xmlns:a16="http://schemas.microsoft.com/office/drawing/2014/main" id="{DE3F9AAF-B1CB-4856-800F-2FCCBE95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383750"/>
            <a:ext cx="6819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Wish them happy sails and fair winds!</a:t>
            </a:r>
          </a:p>
        </p:txBody>
      </p:sp>
      <p:sp>
        <p:nvSpPr>
          <p:cNvPr id="66" name="Yes 2250">
            <a:extLst xmlns:a="http://schemas.openxmlformats.org/drawingml/2006/main">
              <a:ext uri="{FF2B5EF4-FFF2-40B4-BE49-F238E27FC236}">
                <a16:creationId xmlns:a16="http://schemas.microsoft.com/office/drawing/2014/main" id="{3C357A5D-573A-406E-9125-90A0F15C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C73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67" name="Source note">
            <a:extLst xmlns:a="http://schemas.openxmlformats.org/drawingml/2006/main">
              <a:ext uri="{FF2B5EF4-FFF2-40B4-BE49-F238E27FC236}">
                <a16:creationId xmlns:a16="http://schemas.microsoft.com/office/drawing/2014/main" id="{2C3EA90D-105C-479B-80B1-230783BC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228850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5E6F79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5E6F79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5E6F79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5E6F79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5E6F79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5E6F79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5E6F79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5E6F79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5E6F79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5E6F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E6F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F79"/>
                </a:solidFill>
                <a:latin typeface="Arial"/>
                <a:ea typeface="Arial"/>
                <a:cs typeface="Arial"/>
              </a:rPr>
              <a:t>Source: supplied “How to Rent a Sailboat” instructions, steps 1–6.</a:t>
            </a:r>
          </a:p>
        </p:txBody>
      </p:sp>
    </p:spTree>
    <p:extLst>
      <p:ext uri="{BB962C8B-B14F-4D97-AF65-F5344CB8AC3E}">
        <p14:creationId xmlns:p14="http://schemas.microsoft.com/office/powerpoint/2010/main" val="1292756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2026-10-28T22:27:37.4690000Z</dcterms:created>
  <dcterms:modified xsi:type="dcterms:W3CDTF">2026-10-28T22:27:37.4700000Z</dcterms:modified>
</coreProperties>
</file>