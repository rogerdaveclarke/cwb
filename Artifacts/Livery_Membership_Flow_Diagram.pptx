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sldIdLst>
    <p:sldId id="256" r:id="rId2"/>
  </p:sldIdLst>
  <p:sldSz cx="17145000" cy="2286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0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2A9FAB8-471E-4A57-97B2-0041A788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8636000"/>
            <a:ext cx="13716000" cy="330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207F90E-8698-48F0-8B2F-F896C550D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1750" y="12573000"/>
            <a:ext cx="12001500" cy="254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655831C-F520-43F2-9E4B-5C208A0D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9525000"/>
            <a:ext cx="13716000" cy="381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57BB6EA-D696-4381-9E27-2B8A53FCE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1778000"/>
            <a:ext cx="15216188" cy="279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2BC7D19-C9DB-4F0B-98A5-62657BA0D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6350000"/>
            <a:ext cx="15216188" cy="142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1A56FE-DFF4-4C6B-800A-FAF63B8F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1778000"/>
            <a:ext cx="15216188" cy="279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3948C90-3DBD-4CE2-9718-495806FE4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6350000"/>
            <a:ext cx="7072313" cy="142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6ED5744-7812-434D-8A28-EFC884E3BA5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108281" y="6350000"/>
            <a:ext cx="7072313" cy="142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973F6F-00DF-4346-9297-3E289DA76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1778000"/>
            <a:ext cx="15216188" cy="279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7CC481D-7B60-4342-88AE-C6F09DFB0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6350000"/>
            <a:ext cx="7072313" cy="142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3DFEDDC-C30F-47C8-B9FF-F178FA67B8C7}"/>
              </a:ext>
            </a:extLst>
          </p:cNvPr>
          <p:cNvCxnSpPr>
            <a:stCxn id="54" idx="2"/>
            <a:endCxn id="62" idx="0"/>
          </p:cNvCxnSpPr>
          <p:nvPr/>
        </p:nvCxnSpPr>
        <p:spPr>
          <a:xfrm>
            <a:off x="8572500" y="21336000"/>
            <a:ext cx="0" cy="47625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1C805B4-056F-4604-B9C8-48065820F2DE}"/>
              </a:ext>
            </a:extLst>
          </p:cNvPr>
          <p:cNvCxnSpPr>
            <a:stCxn id="54" idx="3"/>
            <a:endCxn id="57" idx="1"/>
          </p:cNvCxnSpPr>
          <p:nvPr/>
        </p:nvCxnSpPr>
        <p:spPr>
          <a:xfrm>
            <a:off x="12192000" y="20478750"/>
            <a:ext cx="762000" cy="0"/>
          </a:xfrm>
          <a:prstGeom prst="straightConnector1">
            <a:avLst/>
          </a:prstGeom>
          <a:ln w="28575">
            <a:solidFill>
              <a:srgbClr val="A34431"/>
            </a:solidFill>
            <a:prstDash val="solid"/>
            <a:tailEnd type="triangle" w="med" len="med"/>
          </a:ln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8BA8DEF-379E-4FD8-A7CE-BEBD4B077F00}"/>
              </a:ext>
            </a:extLst>
          </p:cNvPr>
          <p:cNvCxnSpPr>
            <a:stCxn id="50" idx="2"/>
            <a:endCxn id="54" idx="0"/>
          </p:cNvCxnSpPr>
          <p:nvPr/>
        </p:nvCxnSpPr>
        <p:spPr>
          <a:xfrm>
            <a:off x="8572500" y="19050000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A7A123E-BD43-4D4D-9B7B-64114642C912}"/>
              </a:ext>
            </a:extLst>
          </p:cNvPr>
          <p:cNvCxnSpPr>
            <a:stCxn id="46" idx="2"/>
            <a:endCxn id="50" idx="0"/>
          </p:cNvCxnSpPr>
          <p:nvPr/>
        </p:nvCxnSpPr>
        <p:spPr>
          <a:xfrm>
            <a:off x="8572500" y="17097375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AE879E8-4600-4513-8693-8D76916D7B1C}"/>
              </a:ext>
            </a:extLst>
          </p:cNvPr>
          <p:cNvCxnSpPr>
            <a:stCxn id="42" idx="2"/>
            <a:endCxn id="46" idx="0"/>
          </p:cNvCxnSpPr>
          <p:nvPr/>
        </p:nvCxnSpPr>
        <p:spPr>
          <a:xfrm>
            <a:off x="8572500" y="15335250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602B0DB-F87B-4575-8D1A-0D84F0457F7E}"/>
              </a:ext>
            </a:extLst>
          </p:cNvPr>
          <p:cNvCxnSpPr>
            <a:stCxn id="37" idx="2"/>
            <a:endCxn id="42" idx="0"/>
          </p:cNvCxnSpPr>
          <p:nvPr/>
        </p:nvCxnSpPr>
        <p:spPr>
          <a:xfrm>
            <a:off x="8572500" y="13335000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4B1E44A-ECEF-4EB7-A980-5332647EC9E7}"/>
              </a:ext>
            </a:extLst>
          </p:cNvPr>
          <p:cNvCxnSpPr>
            <a:stCxn id="23" idx="2"/>
            <a:endCxn id="37" idx="0"/>
          </p:cNvCxnSpPr>
          <p:nvPr/>
        </p:nvCxnSpPr>
        <p:spPr>
          <a:xfrm>
            <a:off x="8572500" y="11334750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32F792C-A30E-4C31-AB05-E2A50FAC803A}"/>
              </a:ext>
            </a:extLst>
          </p:cNvPr>
          <p:cNvCxnSpPr>
            <a:stCxn id="23" idx="3"/>
            <a:endCxn id="32" idx="1"/>
          </p:cNvCxnSpPr>
          <p:nvPr/>
        </p:nvCxnSpPr>
        <p:spPr>
          <a:xfrm>
            <a:off x="12192000" y="10477500"/>
            <a:ext cx="762000" cy="47625"/>
          </a:xfrm>
          <a:prstGeom prst="straightConnector1">
            <a:avLst/>
          </a:prstGeom>
          <a:ln w="28575">
            <a:solidFill>
              <a:srgbClr val="A34431"/>
            </a:solidFill>
            <a:prstDash val="solid"/>
            <a:tailEnd type="triangle" w="med" len="med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0E0D69-E2FF-436B-BC1F-57ADE38677CC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8572500" y="9048750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F673DF-0F14-4B76-9CD7-B5F4C7B68685}"/>
              </a:ext>
            </a:extLst>
          </p:cNvPr>
          <p:cNvCxnSpPr>
            <a:stCxn id="14" idx="2"/>
            <a:endCxn id="19" idx="0"/>
          </p:cNvCxnSpPr>
          <p:nvPr/>
        </p:nvCxnSpPr>
        <p:spPr>
          <a:xfrm>
            <a:off x="8572500" y="7286625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FCD0AF-42A1-4A40-8651-BAAECBDD870F}"/>
              </a:ext>
            </a:extLst>
          </p:cNvPr>
          <p:cNvCxnSpPr>
            <a:stCxn id="6" idx="2"/>
            <a:endCxn id="14" idx="0"/>
          </p:cNvCxnSpPr>
          <p:nvPr/>
        </p:nvCxnSpPr>
        <p:spPr>
          <a:xfrm>
            <a:off x="8572500" y="5095875"/>
            <a:ext cx="0" cy="57150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8E677E-BCC6-4324-94F0-3589ADA66CED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12192000" y="4238625"/>
            <a:ext cx="762000" cy="0"/>
          </a:xfrm>
          <a:prstGeom prst="straightConnector1">
            <a:avLst/>
          </a:prstGeom>
          <a:ln w="28575">
            <a:solidFill>
              <a:srgbClr val="A34431"/>
            </a:solidFill>
            <a:prstDash val="solid"/>
            <a:tailEnd type="triangle" w="med" len="med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7DBCC3-7BE5-416D-A5A0-460BA62D1BDD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8572500" y="2905125"/>
            <a:ext cx="0" cy="476250"/>
          </a:xfrm>
          <a:prstGeom prst="straightConnector1">
            <a:avLst/>
          </a:prstGeom>
          <a:ln w="28575">
            <a:solidFill>
              <a:srgbClr val="176C73"/>
            </a:solidFill>
            <a:prstDash val="solid"/>
            <a:tailEnd type="triangle" w="med" len="med"/>
          </a:ln>
        </p:spPr>
      </p:cxnSp>
      <p:sp>
        <p:nvSpPr>
          <p:cNvPr id="68" name="Title">
            <a:extLst>
              <a:ext uri="{FF2B5EF4-FFF2-40B4-BE49-F238E27FC236}">
                <a16:creationId xmlns:a16="http://schemas.microsoft.com/office/drawing/2014/main" id="{DB3E5A95-9A8B-4DD0-B0B4-E5E14A78027D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562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4350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Livery Membership Checks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9906D7D-D1F8-4E56-9798-D6D4B4C3948F}"/>
              </a:ext>
            </a:extLst>
          </p:cNvPr>
          <p:cNvSpPr>
            <a:spLocks noGrp="1"/>
          </p:cNvSpPr>
          <p:nvPr/>
        </p:nvSpPr>
        <p:spPr>
          <a:xfrm>
            <a:off x="762000" y="1095375"/>
            <a:ext cx="1562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0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Sailboat rental • qualification card, boat assignment and departure</a:t>
            </a:r>
          </a:p>
        </p:txBody>
      </p:sp>
      <p:sp>
        <p:nvSpPr>
          <p:cNvPr id="3" name="Find card">
            <a:extLst>
              <a:ext uri="{FF2B5EF4-FFF2-40B4-BE49-F238E27FC236}">
                <a16:creationId xmlns:a16="http://schemas.microsoft.com/office/drawing/2014/main" id="{8154C8B8-1732-4B43-9AB7-4E1C7DC19150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7239000" cy="1095375"/>
          </a:xfrm>
          <a:prstGeom prst="roundRect">
            <a:avLst>
              <a:gd name="adj" fmla="val 10435"/>
            </a:avLst>
          </a:prstGeom>
          <a:solidFill>
            <a:srgbClr val="EDF6F5"/>
          </a:solidFill>
          <a:ln w="19050">
            <a:solidFill>
              <a:srgbClr val="176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ind card title">
            <a:extLst>
              <a:ext uri="{FF2B5EF4-FFF2-40B4-BE49-F238E27FC236}">
                <a16:creationId xmlns:a16="http://schemas.microsoft.com/office/drawing/2014/main" id="{DE7C00EB-C208-4930-AEF8-43200583E73F}"/>
              </a:ext>
            </a:extLst>
          </p:cNvPr>
          <p:cNvSpPr>
            <a:spLocks noGrp="1"/>
          </p:cNvSpPr>
          <p:nvPr/>
        </p:nvSpPr>
        <p:spPr>
          <a:xfrm>
            <a:off x="5162550" y="1952625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1  Locate the sailor’s card</a:t>
            </a:r>
          </a:p>
        </p:txBody>
      </p:sp>
      <p:sp>
        <p:nvSpPr>
          <p:cNvPr id="5" name="Find card details">
            <a:extLst>
              <a:ext uri="{FF2B5EF4-FFF2-40B4-BE49-F238E27FC236}">
                <a16:creationId xmlns:a16="http://schemas.microsoft.com/office/drawing/2014/main" id="{D9A5DAE7-79FD-45BB-A995-F6E43858CD6D}"/>
              </a:ext>
            </a:extLst>
          </p:cNvPr>
          <p:cNvSpPr>
            <a:spLocks noGrp="1"/>
          </p:cNvSpPr>
          <p:nvPr/>
        </p:nvSpPr>
        <p:spPr>
          <a:xfrm>
            <a:off x="5162550" y="2381250"/>
            <a:ext cx="68199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Ask for their last name. Find the card alphabetically.</a:t>
            </a:r>
          </a:p>
        </p:txBody>
      </p:sp>
      <p:sp>
        <p:nvSpPr>
          <p:cNvPr id="6" name="Card validity">
            <a:extLst>
              <a:ext uri="{FF2B5EF4-FFF2-40B4-BE49-F238E27FC236}">
                <a16:creationId xmlns:a16="http://schemas.microsoft.com/office/drawing/2014/main" id="{B222CD40-E454-4785-8A00-22878B5385D5}"/>
              </a:ext>
            </a:extLst>
          </p:cNvPr>
          <p:cNvSpPr>
            <a:spLocks noGrp="1"/>
          </p:cNvSpPr>
          <p:nvPr/>
        </p:nvSpPr>
        <p:spPr>
          <a:xfrm>
            <a:off x="4953000" y="3381375"/>
            <a:ext cx="7239000" cy="1714500"/>
          </a:xfrm>
          <a:prstGeom prst="diamond">
            <a:avLst/>
          </a:prstGeom>
          <a:solidFill>
            <a:srgbClr val="FFF5D9"/>
          </a:solidFill>
          <a:ln w="19050">
            <a:solidFill>
              <a:srgbClr val="A278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validity label">
            <a:extLst>
              <a:ext uri="{FF2B5EF4-FFF2-40B4-BE49-F238E27FC236}">
                <a16:creationId xmlns:a16="http://schemas.microsoft.com/office/drawing/2014/main" id="{A996BBE0-49DB-4AD2-8733-E8AEC5DDA6E8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4191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BLUE or YELLOW card</a:t>
            </a:r>
          </a:p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dated within the past year?</a:t>
            </a:r>
          </a:p>
        </p:txBody>
      </p:sp>
      <p:sp>
        <p:nvSpPr>
          <p:cNvPr id="9" name="Staff review">
            <a:extLst>
              <a:ext uri="{FF2B5EF4-FFF2-40B4-BE49-F238E27FC236}">
                <a16:creationId xmlns:a16="http://schemas.microsoft.com/office/drawing/2014/main" id="{CC09CCDD-206D-4B9D-B98E-6C4149DC64B4}"/>
              </a:ext>
            </a:extLst>
          </p:cNvPr>
          <p:cNvSpPr>
            <a:spLocks noGrp="1"/>
          </p:cNvSpPr>
          <p:nvPr/>
        </p:nvSpPr>
        <p:spPr>
          <a:xfrm>
            <a:off x="12954000" y="3381375"/>
            <a:ext cx="3714750" cy="1714500"/>
          </a:xfrm>
          <a:prstGeom prst="roundRect">
            <a:avLst>
              <a:gd name="adj" fmla="val 6667"/>
            </a:avLst>
          </a:prstGeom>
          <a:solidFill>
            <a:srgbClr val="FFF0EB"/>
          </a:solidFill>
          <a:ln w="19050">
            <a:solidFill>
              <a:srgbClr val="A344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aff review title">
            <a:extLst>
              <a:ext uri="{FF2B5EF4-FFF2-40B4-BE49-F238E27FC236}">
                <a16:creationId xmlns:a16="http://schemas.microsoft.com/office/drawing/2014/main" id="{FD7B36E8-D85E-4085-B3F4-D8FFCD2D55FA}"/>
              </a:ext>
            </a:extLst>
          </p:cNvPr>
          <p:cNvSpPr>
            <a:spLocks noGrp="1"/>
          </p:cNvSpPr>
          <p:nvPr/>
        </p:nvSpPr>
        <p:spPr>
          <a:xfrm>
            <a:off x="13163550" y="3524250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CHECK WITH STAFF</a:t>
            </a:r>
          </a:p>
        </p:txBody>
      </p:sp>
      <p:sp>
        <p:nvSpPr>
          <p:cNvPr id="11" name="Staff review details">
            <a:extLst>
              <a:ext uri="{FF2B5EF4-FFF2-40B4-BE49-F238E27FC236}">
                <a16:creationId xmlns:a16="http://schemas.microsoft.com/office/drawing/2014/main" id="{91BC079E-B769-43C1-92CB-839E0E2E06FE}"/>
              </a:ext>
            </a:extLst>
          </p:cNvPr>
          <p:cNvSpPr>
            <a:spLocks noGrp="1"/>
          </p:cNvSpPr>
          <p:nvPr/>
        </p:nvSpPr>
        <p:spPr>
          <a:xfrm>
            <a:off x="13163550" y="3952875"/>
            <a:ext cx="3295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Card missing, out of date or uncertain?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Resolve with staff, then recheck.</a:t>
            </a:r>
          </a:p>
        </p:txBody>
      </p:sp>
      <p:sp>
        <p:nvSpPr>
          <p:cNvPr id="13" name="No validity">
            <a:extLst>
              <a:ext uri="{FF2B5EF4-FFF2-40B4-BE49-F238E27FC236}">
                <a16:creationId xmlns:a16="http://schemas.microsoft.com/office/drawing/2014/main" id="{3F62AC27-1F48-4566-931A-5AFB81862E2F}"/>
              </a:ext>
            </a:extLst>
          </p:cNvPr>
          <p:cNvSpPr>
            <a:spLocks noGrp="1"/>
          </p:cNvSpPr>
          <p:nvPr/>
        </p:nvSpPr>
        <p:spPr>
          <a:xfrm>
            <a:off x="12287250" y="37909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4" name="Record card">
            <a:extLst>
              <a:ext uri="{FF2B5EF4-FFF2-40B4-BE49-F238E27FC236}">
                <a16:creationId xmlns:a16="http://schemas.microsoft.com/office/drawing/2014/main" id="{6CC9363A-891B-4F91-8359-A681231324F2}"/>
              </a:ext>
            </a:extLst>
          </p:cNvPr>
          <p:cNvSpPr>
            <a:spLocks noGrp="1"/>
          </p:cNvSpPr>
          <p:nvPr/>
        </p:nvSpPr>
        <p:spPr>
          <a:xfrm>
            <a:off x="4953000" y="5667375"/>
            <a:ext cx="7239000" cy="1619250"/>
          </a:xfrm>
          <a:prstGeom prst="roundRect">
            <a:avLst>
              <a:gd name="adj" fmla="val 7059"/>
            </a:avLst>
          </a:prstGeom>
          <a:solidFill>
            <a:srgbClr val="EDF6F5"/>
          </a:solidFill>
          <a:ln w="19050">
            <a:solidFill>
              <a:srgbClr val="176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ord card title">
            <a:extLst>
              <a:ext uri="{FF2B5EF4-FFF2-40B4-BE49-F238E27FC236}">
                <a16:creationId xmlns:a16="http://schemas.microsoft.com/office/drawing/2014/main" id="{D6A8A22C-D66B-497E-BF2D-D5D9C6C699BA}"/>
              </a:ext>
            </a:extLst>
          </p:cNvPr>
          <p:cNvSpPr>
            <a:spLocks noGrp="1"/>
          </p:cNvSpPr>
          <p:nvPr/>
        </p:nvSpPr>
        <p:spPr>
          <a:xfrm>
            <a:off x="5162550" y="5810250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2  Record on the card before sailing</a:t>
            </a:r>
          </a:p>
        </p:txBody>
      </p:sp>
      <p:sp>
        <p:nvSpPr>
          <p:cNvPr id="16" name="Record card details">
            <a:extLst>
              <a:ext uri="{FF2B5EF4-FFF2-40B4-BE49-F238E27FC236}">
                <a16:creationId xmlns:a16="http://schemas.microsoft.com/office/drawing/2014/main" id="{51456418-5E8E-4030-8F68-A80A9FABAAF9}"/>
              </a:ext>
            </a:extLst>
          </p:cNvPr>
          <p:cNvSpPr>
            <a:spLocks noGrp="1"/>
          </p:cNvSpPr>
          <p:nvPr/>
        </p:nvSpPr>
        <p:spPr>
          <a:xfrm>
            <a:off x="5162550" y="6238875"/>
            <a:ext cx="68199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Boat type (e.g. BJK, C22, Monk, Lightning)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Date including year (mm/dd/yy)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Wind direction and knot range</a:t>
            </a:r>
          </a:p>
        </p:txBody>
      </p:sp>
      <p:sp>
        <p:nvSpPr>
          <p:cNvPr id="18" name="Yes 550">
            <a:extLst>
              <a:ext uri="{FF2B5EF4-FFF2-40B4-BE49-F238E27FC236}">
                <a16:creationId xmlns:a16="http://schemas.microsoft.com/office/drawing/2014/main" id="{72B9CC96-7C0B-48BE-AEC9-41F6659EFEA0}"/>
              </a:ext>
            </a:extLst>
          </p:cNvPr>
          <p:cNvSpPr>
            <a:spLocks noGrp="1"/>
          </p:cNvSpPr>
          <p:nvPr/>
        </p:nvSpPr>
        <p:spPr>
          <a:xfrm>
            <a:off x="8763000" y="5238750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9" name="Assign boat">
            <a:extLst>
              <a:ext uri="{FF2B5EF4-FFF2-40B4-BE49-F238E27FC236}">
                <a16:creationId xmlns:a16="http://schemas.microsoft.com/office/drawing/2014/main" id="{24DB980B-A235-44AC-AE11-A4C2F17BFE31}"/>
              </a:ext>
            </a:extLst>
          </p:cNvPr>
          <p:cNvSpPr>
            <a:spLocks noGrp="1"/>
          </p:cNvSpPr>
          <p:nvPr/>
        </p:nvSpPr>
        <p:spPr>
          <a:xfrm>
            <a:off x="4953000" y="7858125"/>
            <a:ext cx="7239000" cy="1190625"/>
          </a:xfrm>
          <a:prstGeom prst="roundRect">
            <a:avLst>
              <a:gd name="adj" fmla="val 9600"/>
            </a:avLst>
          </a:prstGeom>
          <a:solidFill>
            <a:srgbClr val="EDF6F5"/>
          </a:solidFill>
          <a:ln w="19050">
            <a:solidFill>
              <a:srgbClr val="176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ssign boat title">
            <a:extLst>
              <a:ext uri="{FF2B5EF4-FFF2-40B4-BE49-F238E27FC236}">
                <a16:creationId xmlns:a16="http://schemas.microsoft.com/office/drawing/2014/main" id="{8CE00E93-5664-4A63-9588-17F279471D7E}"/>
              </a:ext>
            </a:extLst>
          </p:cNvPr>
          <p:cNvSpPr>
            <a:spLocks noGrp="1"/>
          </p:cNvSpPr>
          <p:nvPr/>
        </p:nvSpPr>
        <p:spPr>
          <a:xfrm>
            <a:off x="5162550" y="8001000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3  Select an available boat</a:t>
            </a:r>
          </a:p>
        </p:txBody>
      </p:sp>
      <p:sp>
        <p:nvSpPr>
          <p:cNvPr id="21" name="Assign boat details">
            <a:extLst>
              <a:ext uri="{FF2B5EF4-FFF2-40B4-BE49-F238E27FC236}">
                <a16:creationId xmlns:a16="http://schemas.microsoft.com/office/drawing/2014/main" id="{9E5C7E8C-DB9C-40E4-A468-1935D8E2A5CA}"/>
              </a:ext>
            </a:extLst>
          </p:cNvPr>
          <p:cNvSpPr>
            <a:spLocks noGrp="1"/>
          </p:cNvSpPr>
          <p:nvPr/>
        </p:nvSpPr>
        <p:spPr>
          <a:xfrm>
            <a:off x="5162550" y="8429625"/>
            <a:ext cx="6819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Classes take priority. Check lesson schedules and time constraints.</a:t>
            </a:r>
          </a:p>
        </p:txBody>
      </p:sp>
      <p:sp>
        <p:nvSpPr>
          <p:cNvPr id="23" name="Boat eligibility">
            <a:extLst>
              <a:ext uri="{FF2B5EF4-FFF2-40B4-BE49-F238E27FC236}">
                <a16:creationId xmlns:a16="http://schemas.microsoft.com/office/drawing/2014/main" id="{9A3E7459-EA75-470D-A5C6-6662321452DE}"/>
              </a:ext>
            </a:extLst>
          </p:cNvPr>
          <p:cNvSpPr>
            <a:spLocks noGrp="1"/>
          </p:cNvSpPr>
          <p:nvPr/>
        </p:nvSpPr>
        <p:spPr>
          <a:xfrm>
            <a:off x="4953000" y="9620250"/>
            <a:ext cx="7239000" cy="1714500"/>
          </a:xfrm>
          <a:prstGeom prst="diamond">
            <a:avLst/>
          </a:prstGeom>
          <a:solidFill>
            <a:srgbClr val="FFF5D9"/>
          </a:solidFill>
          <a:ln w="19050">
            <a:solidFill>
              <a:srgbClr val="A278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at eligibility label">
            <a:extLst>
              <a:ext uri="{FF2B5EF4-FFF2-40B4-BE49-F238E27FC236}">
                <a16:creationId xmlns:a16="http://schemas.microsoft.com/office/drawing/2014/main" id="{B3D57493-B786-4A88-B55B-5A90DB817A62}"/>
              </a:ext>
            </a:extLst>
          </p:cNvPr>
          <p:cNvSpPr>
            <a:spLocks noGrp="1"/>
          </p:cNvSpPr>
          <p:nvPr/>
        </p:nvSpPr>
        <p:spPr>
          <a:xfrm>
            <a:off x="6477000" y="9934575"/>
            <a:ext cx="4191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Correct card for boat,</a:t>
            </a:r>
          </a:p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no lesson conflict and</a:t>
            </a:r>
          </a:p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crew aboard for C22?</a:t>
            </a:r>
          </a:p>
        </p:txBody>
      </p:sp>
      <p:sp>
        <p:nvSpPr>
          <p:cNvPr id="26" name="Blue card rules">
            <a:extLst>
              <a:ext uri="{FF2B5EF4-FFF2-40B4-BE49-F238E27FC236}">
                <a16:creationId xmlns:a16="http://schemas.microsoft.com/office/drawing/2014/main" id="{FF94EAE3-16A2-4738-8B99-FC5019FAE648}"/>
              </a:ext>
            </a:extLst>
          </p:cNvPr>
          <p:cNvSpPr>
            <a:spLocks noGrp="1"/>
          </p:cNvSpPr>
          <p:nvPr/>
        </p:nvSpPr>
        <p:spPr>
          <a:xfrm>
            <a:off x="476250" y="7810500"/>
            <a:ext cx="3714750" cy="1809750"/>
          </a:xfrm>
          <a:prstGeom prst="roundRect">
            <a:avLst>
              <a:gd name="adj" fmla="val 6316"/>
            </a:avLst>
          </a:prstGeom>
          <a:solidFill>
            <a:srgbClr val="EDF4FF"/>
          </a:solidFill>
          <a:ln w="19050">
            <a:solidFill>
              <a:srgbClr val="246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lue card rules title">
            <a:extLst>
              <a:ext uri="{FF2B5EF4-FFF2-40B4-BE49-F238E27FC236}">
                <a16:creationId xmlns:a16="http://schemas.microsoft.com/office/drawing/2014/main" id="{A780FED7-A6C8-4725-B928-3F3C1F92E643}"/>
              </a:ext>
            </a:extLst>
          </p:cNvPr>
          <p:cNvSpPr>
            <a:spLocks noGrp="1"/>
          </p:cNvSpPr>
          <p:nvPr/>
        </p:nvSpPr>
        <p:spPr>
          <a:xfrm>
            <a:off x="685800" y="7953375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1">
                <a:solidFill>
                  <a:srgbClr val="2463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3A0"/>
                </a:solidFill>
                <a:latin typeface="Arial"/>
                <a:ea typeface="Arial"/>
                <a:cs typeface="Arial"/>
              </a:rPr>
              <a:t>BLUE CARD</a:t>
            </a:r>
          </a:p>
        </p:txBody>
      </p:sp>
      <p:sp>
        <p:nvSpPr>
          <p:cNvPr id="28" name="Blue card rules details">
            <a:extLst>
              <a:ext uri="{FF2B5EF4-FFF2-40B4-BE49-F238E27FC236}">
                <a16:creationId xmlns:a16="http://schemas.microsoft.com/office/drawing/2014/main" id="{13B45A51-1C4D-4682-A286-6424F6A7F2D3}"/>
              </a:ext>
            </a:extLst>
          </p:cNvPr>
          <p:cNvSpPr>
            <a:spLocks noGrp="1"/>
          </p:cNvSpPr>
          <p:nvPr/>
        </p:nvSpPr>
        <p:spPr>
          <a:xfrm>
            <a:off x="685800" y="8382000"/>
            <a:ext cx="32956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BJKs and centerboard boats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All boats except C22s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May singlehand</a:t>
            </a:r>
          </a:p>
        </p:txBody>
      </p:sp>
      <p:sp>
        <p:nvSpPr>
          <p:cNvPr id="29" name="Yellow card rules">
            <a:extLst>
              <a:ext uri="{FF2B5EF4-FFF2-40B4-BE49-F238E27FC236}">
                <a16:creationId xmlns:a16="http://schemas.microsoft.com/office/drawing/2014/main" id="{77E3F166-E205-4537-B4CB-2D9C0FFBF15B}"/>
              </a:ext>
            </a:extLst>
          </p:cNvPr>
          <p:cNvSpPr>
            <a:spLocks noGrp="1"/>
          </p:cNvSpPr>
          <p:nvPr/>
        </p:nvSpPr>
        <p:spPr>
          <a:xfrm>
            <a:off x="476250" y="9906000"/>
            <a:ext cx="3714750" cy="1809750"/>
          </a:xfrm>
          <a:prstGeom prst="roundRect">
            <a:avLst>
              <a:gd name="adj" fmla="val 6316"/>
            </a:avLst>
          </a:prstGeom>
          <a:solidFill>
            <a:srgbClr val="FFF5D9"/>
          </a:solidFill>
          <a:ln w="19050">
            <a:solidFill>
              <a:srgbClr val="946A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Yellow card rules title">
            <a:extLst>
              <a:ext uri="{FF2B5EF4-FFF2-40B4-BE49-F238E27FC236}">
                <a16:creationId xmlns:a16="http://schemas.microsoft.com/office/drawing/2014/main" id="{51E1AEE6-D536-45C8-A6C5-D59BD8B12BF4}"/>
              </a:ext>
            </a:extLst>
          </p:cNvPr>
          <p:cNvSpPr>
            <a:spLocks noGrp="1"/>
          </p:cNvSpPr>
          <p:nvPr/>
        </p:nvSpPr>
        <p:spPr>
          <a:xfrm>
            <a:off x="685800" y="10048875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1">
                <a:solidFill>
                  <a:srgbClr val="946A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46A06"/>
                </a:solidFill>
                <a:latin typeface="Arial"/>
                <a:ea typeface="Arial"/>
                <a:cs typeface="Arial"/>
              </a:rPr>
              <a:t>YELLOW CARD</a:t>
            </a:r>
          </a:p>
        </p:txBody>
      </p:sp>
      <p:sp>
        <p:nvSpPr>
          <p:cNvPr id="31" name="Yellow card rules details">
            <a:extLst>
              <a:ext uri="{FF2B5EF4-FFF2-40B4-BE49-F238E27FC236}">
                <a16:creationId xmlns:a16="http://schemas.microsoft.com/office/drawing/2014/main" id="{1FB3CE4B-513C-43CD-B70A-B0B5F1D67444}"/>
              </a:ext>
            </a:extLst>
          </p:cNvPr>
          <p:cNvSpPr>
            <a:spLocks noGrp="1"/>
          </p:cNvSpPr>
          <p:nvPr/>
        </p:nvSpPr>
        <p:spPr>
          <a:xfrm>
            <a:off x="685800" y="10477500"/>
            <a:ext cx="32956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C22 and the rest of the fleet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C22 requires crew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No singlehanding on C22</a:t>
            </a:r>
          </a:p>
        </p:txBody>
      </p:sp>
      <p:sp>
        <p:nvSpPr>
          <p:cNvPr id="32" name="Reselect boat">
            <a:extLst>
              <a:ext uri="{FF2B5EF4-FFF2-40B4-BE49-F238E27FC236}">
                <a16:creationId xmlns:a16="http://schemas.microsoft.com/office/drawing/2014/main" id="{1009509E-5F5D-41E5-8900-8A0AE4944025}"/>
              </a:ext>
            </a:extLst>
          </p:cNvPr>
          <p:cNvSpPr>
            <a:spLocks noGrp="1"/>
          </p:cNvSpPr>
          <p:nvPr/>
        </p:nvSpPr>
        <p:spPr>
          <a:xfrm>
            <a:off x="12954000" y="9620250"/>
            <a:ext cx="3714750" cy="1809750"/>
          </a:xfrm>
          <a:prstGeom prst="roundRect">
            <a:avLst>
              <a:gd name="adj" fmla="val 6316"/>
            </a:avLst>
          </a:prstGeom>
          <a:solidFill>
            <a:srgbClr val="FFF0EB"/>
          </a:solidFill>
          <a:ln w="19050">
            <a:solidFill>
              <a:srgbClr val="A344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select boat title">
            <a:extLst>
              <a:ext uri="{FF2B5EF4-FFF2-40B4-BE49-F238E27FC236}">
                <a16:creationId xmlns:a16="http://schemas.microsoft.com/office/drawing/2014/main" id="{F721759E-7698-4A15-BEAA-AE80337DCA9F}"/>
              </a:ext>
            </a:extLst>
          </p:cNvPr>
          <p:cNvSpPr>
            <a:spLocks noGrp="1"/>
          </p:cNvSpPr>
          <p:nvPr/>
        </p:nvSpPr>
        <p:spPr>
          <a:xfrm>
            <a:off x="13163550" y="9763125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RECHECK BOAT CHOICE</a:t>
            </a:r>
          </a:p>
        </p:txBody>
      </p:sp>
      <p:sp>
        <p:nvSpPr>
          <p:cNvPr id="34" name="Reselect boat details">
            <a:extLst>
              <a:ext uri="{FF2B5EF4-FFF2-40B4-BE49-F238E27FC236}">
                <a16:creationId xmlns:a16="http://schemas.microsoft.com/office/drawing/2014/main" id="{BA9CF9DE-0C94-42BA-9C28-B8FDE71AF18B}"/>
              </a:ext>
            </a:extLst>
          </p:cNvPr>
          <p:cNvSpPr>
            <a:spLocks noGrp="1"/>
          </p:cNvSpPr>
          <p:nvPr/>
        </p:nvSpPr>
        <p:spPr>
          <a:xfrm>
            <a:off x="13163550" y="10191750"/>
            <a:ext cx="32956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Choose another boat or time, or arrange C22 crew.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Then repeat the boat check.</a:t>
            </a:r>
          </a:p>
        </p:txBody>
      </p:sp>
      <p:sp>
        <p:nvSpPr>
          <p:cNvPr id="36" name="No eligibility">
            <a:extLst>
              <a:ext uri="{FF2B5EF4-FFF2-40B4-BE49-F238E27FC236}">
                <a16:creationId xmlns:a16="http://schemas.microsoft.com/office/drawing/2014/main" id="{7168A628-6316-492B-AC9F-3139FFACCD10}"/>
              </a:ext>
            </a:extLst>
          </p:cNvPr>
          <p:cNvSpPr>
            <a:spLocks noGrp="1"/>
          </p:cNvSpPr>
          <p:nvPr/>
        </p:nvSpPr>
        <p:spPr>
          <a:xfrm>
            <a:off x="12287250" y="100965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7" name="Boat briefing">
            <a:extLst>
              <a:ext uri="{FF2B5EF4-FFF2-40B4-BE49-F238E27FC236}">
                <a16:creationId xmlns:a16="http://schemas.microsoft.com/office/drawing/2014/main" id="{3C22C5EF-31B5-4F54-ADB4-04CADEE5DA5D}"/>
              </a:ext>
            </a:extLst>
          </p:cNvPr>
          <p:cNvSpPr>
            <a:spLocks noGrp="1"/>
          </p:cNvSpPr>
          <p:nvPr/>
        </p:nvSpPr>
        <p:spPr>
          <a:xfrm>
            <a:off x="4953000" y="11906250"/>
            <a:ext cx="7239000" cy="1428750"/>
          </a:xfrm>
          <a:prstGeom prst="roundRect">
            <a:avLst>
              <a:gd name="adj" fmla="val 8000"/>
            </a:avLst>
          </a:prstGeom>
          <a:solidFill>
            <a:srgbClr val="EDF6F5"/>
          </a:solidFill>
          <a:ln w="19050">
            <a:solidFill>
              <a:srgbClr val="176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Boat briefing title">
            <a:extLst>
              <a:ext uri="{FF2B5EF4-FFF2-40B4-BE49-F238E27FC236}">
                <a16:creationId xmlns:a16="http://schemas.microsoft.com/office/drawing/2014/main" id="{45A1EF6A-AC15-40C4-B83B-ED67E74E60BE}"/>
              </a:ext>
            </a:extLst>
          </p:cNvPr>
          <p:cNvSpPr>
            <a:spLocks noGrp="1"/>
          </p:cNvSpPr>
          <p:nvPr/>
        </p:nvSpPr>
        <p:spPr>
          <a:xfrm>
            <a:off x="5162550" y="12049125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Confirm readiness for this boat</a:t>
            </a:r>
          </a:p>
        </p:txBody>
      </p:sp>
      <p:sp>
        <p:nvSpPr>
          <p:cNvPr id="39" name="Boat briefing details">
            <a:extLst>
              <a:ext uri="{FF2B5EF4-FFF2-40B4-BE49-F238E27FC236}">
                <a16:creationId xmlns:a16="http://schemas.microsoft.com/office/drawing/2014/main" id="{A4C9E880-6080-45F1-AE12-7956AC82A90C}"/>
              </a:ext>
            </a:extLst>
          </p:cNvPr>
          <p:cNvSpPr>
            <a:spLocks noGrp="1"/>
          </p:cNvSpPr>
          <p:nvPr/>
        </p:nvSpPr>
        <p:spPr>
          <a:xfrm>
            <a:off x="5162550" y="12477750"/>
            <a:ext cx="6819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For a boat new to the sailor, explain differences and handling.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Offer tips and explain the rig as needed.</a:t>
            </a:r>
          </a:p>
        </p:txBody>
      </p:sp>
      <p:sp>
        <p:nvSpPr>
          <p:cNvPr id="41" name="Yes 1205">
            <a:extLst>
              <a:ext uri="{FF2B5EF4-FFF2-40B4-BE49-F238E27FC236}">
                <a16:creationId xmlns:a16="http://schemas.microsoft.com/office/drawing/2014/main" id="{C23836E4-36C1-4D3D-9A0F-57860C78D2B8}"/>
              </a:ext>
            </a:extLst>
          </p:cNvPr>
          <p:cNvSpPr>
            <a:spLocks noGrp="1"/>
          </p:cNvSpPr>
          <p:nvPr/>
        </p:nvSpPr>
        <p:spPr>
          <a:xfrm>
            <a:off x="8763000" y="114776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2" name="Livery log">
            <a:extLst>
              <a:ext uri="{FF2B5EF4-FFF2-40B4-BE49-F238E27FC236}">
                <a16:creationId xmlns:a16="http://schemas.microsoft.com/office/drawing/2014/main" id="{D35CE4F3-0DEB-42FF-BF59-FA0D37A0973F}"/>
              </a:ext>
            </a:extLst>
          </p:cNvPr>
          <p:cNvSpPr>
            <a:spLocks noGrp="1"/>
          </p:cNvSpPr>
          <p:nvPr/>
        </p:nvSpPr>
        <p:spPr>
          <a:xfrm>
            <a:off x="4953000" y="13906500"/>
            <a:ext cx="7239000" cy="1428750"/>
          </a:xfrm>
          <a:prstGeom prst="roundRect">
            <a:avLst>
              <a:gd name="adj" fmla="val 8000"/>
            </a:avLst>
          </a:prstGeom>
          <a:solidFill>
            <a:srgbClr val="EDF6F5"/>
          </a:solidFill>
          <a:ln w="19050">
            <a:solidFill>
              <a:srgbClr val="176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Livery log title">
            <a:extLst>
              <a:ext uri="{FF2B5EF4-FFF2-40B4-BE49-F238E27FC236}">
                <a16:creationId xmlns:a16="http://schemas.microsoft.com/office/drawing/2014/main" id="{84D5094C-40D2-41EC-97A8-8CAC145AB383}"/>
              </a:ext>
            </a:extLst>
          </p:cNvPr>
          <p:cNvSpPr>
            <a:spLocks noGrp="1"/>
          </p:cNvSpPr>
          <p:nvPr/>
        </p:nvSpPr>
        <p:spPr>
          <a:xfrm>
            <a:off x="5162550" y="14049375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4  Complete the livery log</a:t>
            </a:r>
          </a:p>
        </p:txBody>
      </p:sp>
      <p:sp>
        <p:nvSpPr>
          <p:cNvPr id="44" name="Livery log details">
            <a:extLst>
              <a:ext uri="{FF2B5EF4-FFF2-40B4-BE49-F238E27FC236}">
                <a16:creationId xmlns:a16="http://schemas.microsoft.com/office/drawing/2014/main" id="{A247EA64-B0F2-4E94-A60C-D43FFA32C05D}"/>
              </a:ext>
            </a:extLst>
          </p:cNvPr>
          <p:cNvSpPr>
            <a:spLocks noGrp="1"/>
          </p:cNvSpPr>
          <p:nvPr/>
        </p:nvSpPr>
        <p:spPr>
          <a:xfrm>
            <a:off x="5162550" y="14478000"/>
            <a:ext cx="6819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Have the sailor fill it out in full, including rate and time out.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Rigging and de-rigging time count toward rental time.</a:t>
            </a:r>
          </a:p>
        </p:txBody>
      </p:sp>
      <p:sp>
        <p:nvSpPr>
          <p:cNvPr id="46" name="Into wind">
            <a:extLst>
              <a:ext uri="{FF2B5EF4-FFF2-40B4-BE49-F238E27FC236}">
                <a16:creationId xmlns:a16="http://schemas.microsoft.com/office/drawing/2014/main" id="{E0D6C465-D54D-40B3-80DA-DB6EB3696FBD}"/>
              </a:ext>
            </a:extLst>
          </p:cNvPr>
          <p:cNvSpPr>
            <a:spLocks noGrp="1"/>
          </p:cNvSpPr>
          <p:nvPr/>
        </p:nvSpPr>
        <p:spPr>
          <a:xfrm>
            <a:off x="4953000" y="15906750"/>
            <a:ext cx="7239000" cy="1190625"/>
          </a:xfrm>
          <a:prstGeom prst="roundRect">
            <a:avLst>
              <a:gd name="adj" fmla="val 9600"/>
            </a:avLst>
          </a:prstGeom>
          <a:solidFill>
            <a:srgbClr val="EDF6F5"/>
          </a:solidFill>
          <a:ln w="19050">
            <a:solidFill>
              <a:srgbClr val="176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Into wind title">
            <a:extLst>
              <a:ext uri="{FF2B5EF4-FFF2-40B4-BE49-F238E27FC236}">
                <a16:creationId xmlns:a16="http://schemas.microsoft.com/office/drawing/2014/main" id="{C0AA6F97-F737-49E0-A018-998E9AE83FB3}"/>
              </a:ext>
            </a:extLst>
          </p:cNvPr>
          <p:cNvSpPr>
            <a:spLocks noGrp="1"/>
          </p:cNvSpPr>
          <p:nvPr/>
        </p:nvSpPr>
        <p:spPr>
          <a:xfrm>
            <a:off x="5162550" y="16049625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5  Point the boat into the wind</a:t>
            </a:r>
          </a:p>
        </p:txBody>
      </p:sp>
      <p:sp>
        <p:nvSpPr>
          <p:cNvPr id="48" name="Into wind details">
            <a:extLst>
              <a:ext uri="{FF2B5EF4-FFF2-40B4-BE49-F238E27FC236}">
                <a16:creationId xmlns:a16="http://schemas.microsoft.com/office/drawing/2014/main" id="{2D2D43FF-A114-48BF-A7A6-FF1C008990D0}"/>
              </a:ext>
            </a:extLst>
          </p:cNvPr>
          <p:cNvSpPr>
            <a:spLocks noGrp="1"/>
          </p:cNvSpPr>
          <p:nvPr/>
        </p:nvSpPr>
        <p:spPr>
          <a:xfrm>
            <a:off x="5162550" y="16478250"/>
            <a:ext cx="6819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Do this before rigging. Help turn the boat, especially a larger one.</a:t>
            </a:r>
          </a:p>
        </p:txBody>
      </p:sp>
      <p:sp>
        <p:nvSpPr>
          <p:cNvPr id="50" name="Teach rigging">
            <a:extLst>
              <a:ext uri="{FF2B5EF4-FFF2-40B4-BE49-F238E27FC236}">
                <a16:creationId xmlns:a16="http://schemas.microsoft.com/office/drawing/2014/main" id="{287152A0-F171-4751-B719-12FF6AB3075E}"/>
              </a:ext>
            </a:extLst>
          </p:cNvPr>
          <p:cNvSpPr>
            <a:spLocks noGrp="1"/>
          </p:cNvSpPr>
          <p:nvPr/>
        </p:nvSpPr>
        <p:spPr>
          <a:xfrm>
            <a:off x="4953000" y="17668875"/>
            <a:ext cx="7239000" cy="1381125"/>
          </a:xfrm>
          <a:prstGeom prst="roundRect">
            <a:avLst>
              <a:gd name="adj" fmla="val 8276"/>
            </a:avLst>
          </a:prstGeom>
          <a:solidFill>
            <a:srgbClr val="EDF6F5"/>
          </a:solidFill>
          <a:ln w="19050">
            <a:solidFill>
              <a:srgbClr val="176C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ach rigging title">
            <a:extLst>
              <a:ext uri="{FF2B5EF4-FFF2-40B4-BE49-F238E27FC236}">
                <a16:creationId xmlns:a16="http://schemas.microsoft.com/office/drawing/2014/main" id="{FE6E13AF-30C0-4C5C-B5DF-E6D5AF640C2E}"/>
              </a:ext>
            </a:extLst>
          </p:cNvPr>
          <p:cNvSpPr>
            <a:spLocks noGrp="1"/>
          </p:cNvSpPr>
          <p:nvPr/>
        </p:nvSpPr>
        <p:spPr>
          <a:xfrm>
            <a:off x="5162550" y="17811750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Guide and assist as needed</a:t>
            </a:r>
          </a:p>
        </p:txBody>
      </p:sp>
      <p:sp>
        <p:nvSpPr>
          <p:cNvPr id="52" name="Teach rigging details">
            <a:extLst>
              <a:ext uri="{FF2B5EF4-FFF2-40B4-BE49-F238E27FC236}">
                <a16:creationId xmlns:a16="http://schemas.microsoft.com/office/drawing/2014/main" id="{2D4104F6-23DC-4EFE-89B7-5E44F05C76A0}"/>
              </a:ext>
            </a:extLst>
          </p:cNvPr>
          <p:cNvSpPr>
            <a:spLocks noGrp="1"/>
          </p:cNvSpPr>
          <p:nvPr/>
        </p:nvSpPr>
        <p:spPr>
          <a:xfrm>
            <a:off x="5162550" y="18240375"/>
            <a:ext cx="68199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Let the sailor do the work. Teach rigging and reefing.</a:t>
            </a:r>
          </a:p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Explain each step and reinforce CWB procedures.</a:t>
            </a:r>
          </a:p>
        </p:txBody>
      </p:sp>
      <p:sp>
        <p:nvSpPr>
          <p:cNvPr id="54" name="Final rig check">
            <a:extLst>
              <a:ext uri="{FF2B5EF4-FFF2-40B4-BE49-F238E27FC236}">
                <a16:creationId xmlns:a16="http://schemas.microsoft.com/office/drawing/2014/main" id="{AABBE62A-0E09-4B9B-98A5-C7372025F338}"/>
              </a:ext>
            </a:extLst>
          </p:cNvPr>
          <p:cNvSpPr>
            <a:spLocks noGrp="1"/>
          </p:cNvSpPr>
          <p:nvPr/>
        </p:nvSpPr>
        <p:spPr>
          <a:xfrm>
            <a:off x="4953000" y="19621500"/>
            <a:ext cx="7239000" cy="1714500"/>
          </a:xfrm>
          <a:prstGeom prst="diamond">
            <a:avLst/>
          </a:prstGeom>
          <a:solidFill>
            <a:srgbClr val="FFF5D9"/>
          </a:solidFill>
          <a:ln w="19050">
            <a:solidFill>
              <a:srgbClr val="A278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Final rig check label">
            <a:extLst>
              <a:ext uri="{FF2B5EF4-FFF2-40B4-BE49-F238E27FC236}">
                <a16:creationId xmlns:a16="http://schemas.microsoft.com/office/drawing/2014/main" id="{D8D6530E-A136-4CA9-B02D-C85B7FC16B8C}"/>
              </a:ext>
            </a:extLst>
          </p:cNvPr>
          <p:cNvSpPr>
            <a:spLocks noGrp="1"/>
          </p:cNvSpPr>
          <p:nvPr/>
        </p:nvSpPr>
        <p:spPr>
          <a:xfrm>
            <a:off x="6477000" y="19935825"/>
            <a:ext cx="4191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6  Final check complete?</a:t>
            </a:r>
          </a:p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Rig set correctly and</a:t>
            </a:r>
          </a:p>
          <a:p>
            <a:pPr algn="ctr">
              <a:defRPr sz="2175" b="1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647"/>
                </a:solidFill>
                <a:latin typeface="Arial"/>
                <a:ea typeface="Arial"/>
                <a:cs typeface="Arial"/>
              </a:rPr>
              <a:t>nothing likely to foul?</a:t>
            </a:r>
          </a:p>
        </p:txBody>
      </p:sp>
      <p:sp>
        <p:nvSpPr>
          <p:cNvPr id="57" name="Correct and recheck">
            <a:extLst>
              <a:ext uri="{FF2B5EF4-FFF2-40B4-BE49-F238E27FC236}">
                <a16:creationId xmlns:a16="http://schemas.microsoft.com/office/drawing/2014/main" id="{86F80A0E-6971-4CE5-86C7-7D6434820405}"/>
              </a:ext>
            </a:extLst>
          </p:cNvPr>
          <p:cNvSpPr>
            <a:spLocks noGrp="1"/>
          </p:cNvSpPr>
          <p:nvPr/>
        </p:nvSpPr>
        <p:spPr>
          <a:xfrm>
            <a:off x="12954000" y="19621500"/>
            <a:ext cx="3714750" cy="1714500"/>
          </a:xfrm>
          <a:prstGeom prst="roundRect">
            <a:avLst>
              <a:gd name="adj" fmla="val 6667"/>
            </a:avLst>
          </a:prstGeom>
          <a:solidFill>
            <a:srgbClr val="FFF0EB"/>
          </a:solidFill>
          <a:ln w="19050">
            <a:solidFill>
              <a:srgbClr val="A344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Correct and recheck title">
            <a:extLst>
              <a:ext uri="{FF2B5EF4-FFF2-40B4-BE49-F238E27FC236}">
                <a16:creationId xmlns:a16="http://schemas.microsoft.com/office/drawing/2014/main" id="{AC0F10CE-FBB7-439F-AAEA-8F13DE9A1D7E}"/>
              </a:ext>
            </a:extLst>
          </p:cNvPr>
          <p:cNvSpPr>
            <a:spLocks noGrp="1"/>
          </p:cNvSpPr>
          <p:nvPr/>
        </p:nvSpPr>
        <p:spPr>
          <a:xfrm>
            <a:off x="13163550" y="19764375"/>
            <a:ext cx="3295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75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CORRECT AND RECHECK</a:t>
            </a:r>
          </a:p>
        </p:txBody>
      </p:sp>
      <p:sp>
        <p:nvSpPr>
          <p:cNvPr id="59" name="Correct and recheck details">
            <a:extLst>
              <a:ext uri="{FF2B5EF4-FFF2-40B4-BE49-F238E27FC236}">
                <a16:creationId xmlns:a16="http://schemas.microsoft.com/office/drawing/2014/main" id="{BBB8A9BB-D623-4FA0-9717-213E67B31051}"/>
              </a:ext>
            </a:extLst>
          </p:cNvPr>
          <p:cNvSpPr>
            <a:spLocks noGrp="1"/>
          </p:cNvSpPr>
          <p:nvPr/>
        </p:nvSpPr>
        <p:spPr>
          <a:xfrm>
            <a:off x="13163550" y="20193000"/>
            <a:ext cx="32956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950" b="0">
                <a:solidFill>
                  <a:srgbClr val="18364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647"/>
                </a:solidFill>
                <a:latin typeface="Arial"/>
                <a:ea typeface="Arial"/>
                <a:cs typeface="Arial"/>
              </a:rPr>
              <a:t>Help resolve rig issues, then repeat the final check before departure.</a:t>
            </a:r>
          </a:p>
        </p:txBody>
      </p:sp>
      <p:sp>
        <p:nvSpPr>
          <p:cNvPr id="61" name="No rig">
            <a:extLst>
              <a:ext uri="{FF2B5EF4-FFF2-40B4-BE49-F238E27FC236}">
                <a16:creationId xmlns:a16="http://schemas.microsoft.com/office/drawing/2014/main" id="{15E00C47-DF04-45BB-B82D-CC6D6E9D9FF8}"/>
              </a:ext>
            </a:extLst>
          </p:cNvPr>
          <p:cNvSpPr>
            <a:spLocks noGrp="1"/>
          </p:cNvSpPr>
          <p:nvPr/>
        </p:nvSpPr>
        <p:spPr>
          <a:xfrm>
            <a:off x="12287250" y="200977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A344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4431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62" name="Departure">
            <a:extLst>
              <a:ext uri="{FF2B5EF4-FFF2-40B4-BE49-F238E27FC236}">
                <a16:creationId xmlns:a16="http://schemas.microsoft.com/office/drawing/2014/main" id="{96AE7A40-843F-4A8B-9B44-9C74179EE329}"/>
              </a:ext>
            </a:extLst>
          </p:cNvPr>
          <p:cNvSpPr>
            <a:spLocks noGrp="1"/>
          </p:cNvSpPr>
          <p:nvPr/>
        </p:nvSpPr>
        <p:spPr>
          <a:xfrm>
            <a:off x="4953000" y="21812250"/>
            <a:ext cx="7239000" cy="857250"/>
          </a:xfrm>
          <a:prstGeom prst="roundRect">
            <a:avLst>
              <a:gd name="adj" fmla="val 13333"/>
            </a:avLst>
          </a:prstGeom>
          <a:solidFill>
            <a:srgbClr val="176C7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Departure title">
            <a:extLst>
              <a:ext uri="{FF2B5EF4-FFF2-40B4-BE49-F238E27FC236}">
                <a16:creationId xmlns:a16="http://schemas.microsoft.com/office/drawing/2014/main" id="{AEDA7FDC-04C6-4E03-991C-D5EA0A1567D8}"/>
              </a:ext>
            </a:extLst>
          </p:cNvPr>
          <p:cNvSpPr>
            <a:spLocks noGrp="1"/>
          </p:cNvSpPr>
          <p:nvPr/>
        </p:nvSpPr>
        <p:spPr>
          <a:xfrm>
            <a:off x="5162550" y="21955125"/>
            <a:ext cx="6819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TO DEPART</a:t>
            </a:r>
          </a:p>
        </p:txBody>
      </p:sp>
      <p:sp>
        <p:nvSpPr>
          <p:cNvPr id="64" name="Departure details">
            <a:extLst>
              <a:ext uri="{FF2B5EF4-FFF2-40B4-BE49-F238E27FC236}">
                <a16:creationId xmlns:a16="http://schemas.microsoft.com/office/drawing/2014/main" id="{DA93F16D-4642-4509-A027-C8C6FB4D0344}"/>
              </a:ext>
            </a:extLst>
          </p:cNvPr>
          <p:cNvSpPr>
            <a:spLocks noGrp="1"/>
          </p:cNvSpPr>
          <p:nvPr/>
        </p:nvSpPr>
        <p:spPr>
          <a:xfrm>
            <a:off x="5162550" y="22383750"/>
            <a:ext cx="6819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Wish them happy sails and fair winds!</a:t>
            </a:r>
          </a:p>
        </p:txBody>
      </p:sp>
      <p:sp>
        <p:nvSpPr>
          <p:cNvPr id="66" name="Yes 2250">
            <a:extLst>
              <a:ext uri="{FF2B5EF4-FFF2-40B4-BE49-F238E27FC236}">
                <a16:creationId xmlns:a16="http://schemas.microsoft.com/office/drawing/2014/main" id="{EDB0E00B-F23B-4486-99F3-2146295934E7}"/>
              </a:ext>
            </a:extLst>
          </p:cNvPr>
          <p:cNvSpPr>
            <a:spLocks noGrp="1"/>
          </p:cNvSpPr>
          <p:nvPr/>
        </p:nvSpPr>
        <p:spPr>
          <a:xfrm>
            <a:off x="8763000" y="21431250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176C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C73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67" name="Source note">
            <a:extLst>
              <a:ext uri="{FF2B5EF4-FFF2-40B4-BE49-F238E27FC236}">
                <a16:creationId xmlns:a16="http://schemas.microsoft.com/office/drawing/2014/main" id="{42870080-468E-4B03-BCEB-72EC52DDA627}"/>
              </a:ext>
            </a:extLst>
          </p:cNvPr>
          <p:cNvSpPr>
            <a:spLocks noGrp="1"/>
          </p:cNvSpPr>
          <p:nvPr/>
        </p:nvSpPr>
        <p:spPr>
          <a:xfrm>
            <a:off x="428625" y="22288500"/>
            <a:ext cx="3810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25" b="0">
                <a:solidFill>
                  <a:srgbClr val="5E6F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F79"/>
                </a:solidFill>
                <a:latin typeface="Arial"/>
                <a:ea typeface="Arial"/>
                <a:cs typeface="Arial"/>
              </a:rPr>
              <a:t>Based on the supplied “How to Rent a Sailboat” steps 1–6. The source does not specify a separate membership-status check.</a:t>
            </a:r>
          </a:p>
        </p:txBody>
      </p:sp>
    </p:spTree>
    <p:extLst>
      <p:ext uri="{BB962C8B-B14F-4D97-AF65-F5344CB8AC3E}">
        <p14:creationId xmlns:p14="http://schemas.microsoft.com/office/powerpoint/2010/main" val="6669339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DocSecurity>0</DocSecurity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2026-10-28T22:25:18Z</dcterms:created>
  <dcterms:modified xsi:type="dcterms:W3CDTF">2026-10-28T22:25:47Z</dcterms:modified>
</cp:coreProperties>
</file>